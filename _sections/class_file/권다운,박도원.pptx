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handoutMasterIdLst>
    <p:handoutMasterId r:id="rId45"/>
  </p:handoutMasterIdLst>
  <p:sldIdLst>
    <p:sldId id="258" r:id="rId2"/>
    <p:sldId id="263" r:id="rId3"/>
    <p:sldId id="264" r:id="rId4"/>
    <p:sldId id="290" r:id="rId5"/>
    <p:sldId id="265" r:id="rId6"/>
    <p:sldId id="266" r:id="rId7"/>
    <p:sldId id="267" r:id="rId8"/>
    <p:sldId id="268" r:id="rId9"/>
    <p:sldId id="270" r:id="rId10"/>
    <p:sldId id="271" r:id="rId11"/>
    <p:sldId id="269" r:id="rId12"/>
    <p:sldId id="272" r:id="rId13"/>
    <p:sldId id="273" r:id="rId14"/>
    <p:sldId id="274" r:id="rId15"/>
    <p:sldId id="275" r:id="rId16"/>
    <p:sldId id="276" r:id="rId17"/>
    <p:sldId id="278" r:id="rId18"/>
    <p:sldId id="280" r:id="rId19"/>
    <p:sldId id="283" r:id="rId20"/>
    <p:sldId id="284" r:id="rId21"/>
    <p:sldId id="279" r:id="rId22"/>
    <p:sldId id="291" r:id="rId23"/>
    <p:sldId id="295" r:id="rId24"/>
    <p:sldId id="297" r:id="rId25"/>
    <p:sldId id="296" r:id="rId26"/>
    <p:sldId id="285" r:id="rId27"/>
    <p:sldId id="286" r:id="rId28"/>
    <p:sldId id="287" r:id="rId29"/>
    <p:sldId id="299" r:id="rId30"/>
    <p:sldId id="288" r:id="rId31"/>
    <p:sldId id="289" r:id="rId32"/>
    <p:sldId id="294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1A06304-BACD-480B-85F1-6613CCF3961C}">
          <p14:sldIdLst>
            <p14:sldId id="258"/>
            <p14:sldId id="263"/>
            <p14:sldId id="264"/>
            <p14:sldId id="290"/>
            <p14:sldId id="265"/>
            <p14:sldId id="266"/>
            <p14:sldId id="267"/>
            <p14:sldId id="268"/>
            <p14:sldId id="270"/>
            <p14:sldId id="271"/>
            <p14:sldId id="269"/>
            <p14:sldId id="272"/>
            <p14:sldId id="273"/>
            <p14:sldId id="274"/>
            <p14:sldId id="275"/>
            <p14:sldId id="276"/>
            <p14:sldId id="278"/>
            <p14:sldId id="280"/>
            <p14:sldId id="283"/>
            <p14:sldId id="284"/>
            <p14:sldId id="279"/>
            <p14:sldId id="291"/>
            <p14:sldId id="295"/>
            <p14:sldId id="297"/>
            <p14:sldId id="296"/>
            <p14:sldId id="285"/>
            <p14:sldId id="286"/>
            <p14:sldId id="287"/>
            <p14:sldId id="299"/>
            <p14:sldId id="288"/>
            <p14:sldId id="289"/>
            <p14:sldId id="294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DA3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80353" autoAdjust="0"/>
  </p:normalViewPr>
  <p:slideViewPr>
    <p:cSldViewPr>
      <p:cViewPr varScale="1">
        <p:scale>
          <a:sx n="91" d="100"/>
          <a:sy n="91" d="100"/>
        </p:scale>
        <p:origin x="19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4008" y="120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294" y="1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C7F0F3E8-9599-468E-A33D-549051F76CD5}" type="datetimeFigureOut">
              <a:rPr lang="ko-KR" altLang="en-US" smtClean="0"/>
              <a:t>2019-12-12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F1A5642E-8F20-4383-BE7F-1A50D1B48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334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8E36C08C-666C-4DCA-8F74-3EE70D37F664}" type="datetimeFigureOut">
              <a:rPr lang="ko-KR" altLang="en-US" smtClean="0"/>
              <a:t>2019-12-12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1731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0D12B8AE-4AA8-4486-BA1A-579E2E1AF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52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464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49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34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351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834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092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7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받은 테이프와 </a:t>
            </a:r>
            <a:r>
              <a:rPr lang="ko-KR" altLang="en-US" dirty="0" err="1"/>
              <a:t>뷰를가지고</a:t>
            </a:r>
            <a:r>
              <a:rPr lang="ko-KR" altLang="en-US" dirty="0"/>
              <a:t> </a:t>
            </a:r>
            <a:r>
              <a:rPr lang="ko-KR" altLang="en-US" dirty="0" err="1"/>
              <a:t>커밋했을때</a:t>
            </a:r>
            <a:r>
              <a:rPr lang="ko-KR" altLang="en-US" dirty="0"/>
              <a:t> 그게 받은 </a:t>
            </a:r>
            <a:r>
              <a:rPr lang="ko-KR" altLang="en-US" dirty="0" err="1"/>
              <a:t>커밋된</a:t>
            </a:r>
            <a:r>
              <a:rPr lang="ko-KR" altLang="en-US" dirty="0"/>
              <a:t> 값과 다르면 </a:t>
            </a:r>
            <a:r>
              <a:rPr lang="ko-KR" altLang="en-US" dirty="0" err="1"/>
              <a:t>리젝트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2B8AE-4AA8-4486-BA1A-579E2E1AFD6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16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2780928"/>
            <a:ext cx="9144000" cy="1105272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12549"/>
                  <a:invGamma/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905000" y="5410200"/>
            <a:ext cx="5181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600"/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3810000" y="6477000"/>
            <a:ext cx="2133600" cy="2444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FFFFFF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28600" y="6477000"/>
            <a:ext cx="2895600" cy="244475"/>
          </a:xfrm>
        </p:spPr>
        <p:txBody>
          <a:bodyPr/>
          <a:lstStyle>
            <a:lvl1pPr algn="ctr">
              <a:defRPr sz="1200">
                <a:latin typeface="Arial" charset="0"/>
              </a:defRPr>
            </a:lvl1pPr>
          </a:lstStyle>
          <a:p>
            <a:r>
              <a:rPr lang="en-US" altLang="ko-KR">
                <a:solidFill>
                  <a:srgbClr val="003366"/>
                </a:solidFill>
              </a:rPr>
              <a:t>C@mp Lab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300578DF-6C21-4981-B095-969A53067169}" type="slidenum">
              <a:rPr lang="en-US" altLang="ko-KR">
                <a:solidFill>
                  <a:srgbClr val="FFFFFF"/>
                </a:solidFill>
              </a:rPr>
              <a:pPr/>
              <a:t>‹#›</a:t>
            </a:fld>
            <a:endParaRPr lang="en-US" altLang="ko-KR">
              <a:solidFill>
                <a:srgbClr val="FFFFFF"/>
              </a:solidFill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gray">
          <a:xfrm>
            <a:off x="0" y="2636912"/>
            <a:ext cx="8229600" cy="117308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  <a:alpha val="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780928"/>
            <a:ext cx="7924800" cy="952872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620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>
                <a:latin typeface="Times New Roman" pitchFamily="18" charset="0"/>
                <a:ea typeface="맑은 고딕" pitchFamily="50" charset="-127"/>
                <a:cs typeface="Times New Roman" pitchFamily="18" charset="0"/>
              </a:defRPr>
            </a:lvl1pPr>
          </a:lstStyle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ea typeface="나눔고딕코딩" panose="020D0009000000000000" pitchFamily="49" charset="-127"/>
                <a:cs typeface="Times New Roman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나눔고딕코딩" panose="020D0009000000000000" pitchFamily="49" charset="-127"/>
                <a:cs typeface="Times New Roman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나눔고딕코딩" panose="020D0009000000000000" pitchFamily="49" charset="-127"/>
                <a:cs typeface="Times New Roman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나눔고딕코딩" panose="020D0009000000000000" pitchFamily="49" charset="-127"/>
                <a:cs typeface="Times New Roman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나눔고딕코딩" panose="020D0009000000000000" pitchFamily="49" charset="-127"/>
                <a:cs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A30FE-2331-41FD-B08D-3C3EB96D9336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10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4EC70-607F-425B-B11D-4F6B7F7E443F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13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38263"/>
            <a:ext cx="4038600" cy="509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38263"/>
            <a:ext cx="4038600" cy="5092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F38A2-CCAC-4F97-953C-7B1E4C603C06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B3088-5608-4A76-B14F-C21E886CE050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7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71B9B-96D3-4BB9-B9AA-30EC9BED749D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73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534D2-457C-451D-A123-C892FA31D871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1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903357-BCF0-4F61-A3B6-D138AB9E7D02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71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9AA4F-5F7D-48CD-91DE-EEF0E77D6A13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0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0B4100-5FF2-4B74-82C5-116D19470B12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8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547688"/>
            <a:ext cx="2057400" cy="5883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47688"/>
            <a:ext cx="6019800" cy="5883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83FCA-8C17-4678-8CA8-FF87D6B1C3B7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813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47688"/>
            <a:ext cx="7391400" cy="563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38263"/>
            <a:ext cx="8229600" cy="50927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791200" y="6530975"/>
            <a:ext cx="2895600" cy="2762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6553200"/>
            <a:ext cx="2133600" cy="254000"/>
          </a:xfrm>
        </p:spPr>
        <p:txBody>
          <a:bodyPr/>
          <a:lstStyle>
            <a:lvl1pPr>
              <a:defRPr/>
            </a:lvl1pPr>
          </a:lstStyle>
          <a:p>
            <a:fld id="{0FE6E3F8-B4CC-4259-AA23-59E6541E30E3}" type="slidenum">
              <a:rPr lang="en-US" altLang="ko-KR">
                <a:solidFill>
                  <a:srgbClr val="003366"/>
                </a:solidFill>
              </a:rPr>
              <a:pPr/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20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76200"/>
            <a:ext cx="9144000" cy="68580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12549"/>
                  <a:invGamma/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8229600" cy="6858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  <a:alpha val="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003366"/>
              </a:solidFill>
              <a:latin typeface="Arial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908720"/>
            <a:ext cx="8496944" cy="5522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530975"/>
            <a:ext cx="2895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>
                <a:latin typeface="Rage Italic" pitchFamily="66" charset="0"/>
                <a:ea typeface="굴림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 err="1">
                <a:solidFill>
                  <a:srgbClr val="003366"/>
                </a:solidFill>
              </a:rPr>
              <a:t>C@mp</a:t>
            </a:r>
            <a:r>
              <a:rPr lang="en-US" altLang="ko-KR" dirty="0">
                <a:solidFill>
                  <a:srgbClr val="003366"/>
                </a:solidFill>
              </a:rPr>
              <a:t> Lab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+mn-lt"/>
                <a:ea typeface="굴림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7A71342-A533-4022-B006-EB169A7CD1CD}" type="slidenum">
              <a:rPr lang="en-US" altLang="ko-KR">
                <a:solidFill>
                  <a:srgbClr val="00336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ko-KR">
              <a:solidFill>
                <a:srgbClr val="003366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23528" y="116632"/>
            <a:ext cx="8496944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693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n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rgbClr val="000000"/>
          </a:solidFill>
          <a:latin typeface="+mn-ea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000000"/>
          </a:solidFill>
          <a:latin typeface="+mn-ea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1800">
          <a:solidFill>
            <a:srgbClr val="000000"/>
          </a:solidFill>
          <a:latin typeface="+mn-ea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1800">
          <a:solidFill>
            <a:srgbClr val="000000"/>
          </a:solidFill>
          <a:latin typeface="+mn-ea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1.png"/><Relationship Id="rId7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61.png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61.png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61.png"/><Relationship Id="rId7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293096"/>
            <a:ext cx="5181600" cy="1650504"/>
          </a:xfrm>
        </p:spPr>
        <p:txBody>
          <a:bodyPr/>
          <a:lstStyle/>
          <a:p>
            <a:r>
              <a:rPr lang="en-US" altLang="ko-KR" sz="1800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2019.12.13</a:t>
            </a:r>
          </a:p>
          <a:p>
            <a:r>
              <a:rPr lang="ko-KR" altLang="en-US" sz="1800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한양대학교 수학과 </a:t>
            </a:r>
            <a:endParaRPr lang="en-US" altLang="ko-KR" sz="1800" dirty="0">
              <a:latin typeface="Times New Roman" pitchFamily="18" charset="0"/>
              <a:ea typeface="맑은 고딕" pitchFamily="50" charset="-127"/>
              <a:cs typeface="Times New Roman" pitchFamily="18" charset="0"/>
            </a:endParaRPr>
          </a:p>
          <a:p>
            <a:r>
              <a:rPr lang="ko-KR" altLang="en-US" sz="1800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권다운</a:t>
            </a:r>
            <a:r>
              <a:rPr lang="en-US" altLang="ko-KR" sz="1800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, </a:t>
            </a:r>
            <a:r>
              <a:rPr lang="ko-KR" altLang="en-US" sz="1800" dirty="0" err="1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박도원</a:t>
            </a:r>
            <a:endParaRPr lang="en-US" altLang="ko-KR" sz="1800" dirty="0">
              <a:latin typeface="Times New Roman" pitchFamily="18" charset="0"/>
              <a:ea typeface="맑은 고딕" pitchFamily="50" charset="-127"/>
              <a:cs typeface="Times New Roman" pitchFamily="18" charset="0"/>
            </a:endParaRPr>
          </a:p>
          <a:p>
            <a:r>
              <a:rPr lang="en-US" altLang="ko-KR" sz="1800" dirty="0" err="1">
                <a:latin typeface="Rage Italic" panose="03070502040507070304" pitchFamily="66" charset="0"/>
                <a:ea typeface="맑은 고딕" pitchFamily="50" charset="-127"/>
                <a:cs typeface="Times New Roman" pitchFamily="18" charset="0"/>
              </a:rPr>
              <a:t>C@mp</a:t>
            </a:r>
            <a:r>
              <a:rPr lang="en-US" altLang="ko-KR" sz="1800" dirty="0">
                <a:latin typeface="Rage Italic" panose="03070502040507070304" pitchFamily="66" charset="0"/>
                <a:ea typeface="맑은 고딕" pitchFamily="50" charset="-127"/>
                <a:cs typeface="Times New Roman" pitchFamily="18" charset="0"/>
              </a:rPr>
              <a:t> Lab.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2852936"/>
            <a:ext cx="8568952" cy="880864"/>
          </a:xfrm>
        </p:spPr>
        <p:txBody>
          <a:bodyPr/>
          <a:lstStyle/>
          <a:p>
            <a:r>
              <a:rPr lang="en-US" altLang="ko-KR" i="1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Post-Quantum Zero-Knowledge and Signatures from Symmetric-Key Primitives</a:t>
            </a:r>
          </a:p>
        </p:txBody>
      </p:sp>
    </p:spTree>
    <p:extLst>
      <p:ext uri="{BB962C8B-B14F-4D97-AF65-F5344CB8AC3E}">
        <p14:creationId xmlns:p14="http://schemas.microsoft.com/office/powerpoint/2010/main" val="3361963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CF02-A872-4E90-B51B-63AF02CA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6800-7582-4935-8CB7-87DABFF3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[IKOS] “Zero-Knowledge from Secure Multiparty Computation (2009)”</a:t>
            </a:r>
            <a:br>
              <a:rPr lang="en-US" altLang="ko-KR" dirty="0"/>
            </a:br>
            <a:r>
              <a:rPr lang="en-US" altLang="ko-KR" b="0" dirty="0"/>
              <a:t>Yuval </a:t>
            </a:r>
            <a:r>
              <a:rPr lang="en-US" altLang="ko-KR" b="0" dirty="0" err="1"/>
              <a:t>Ishai</a:t>
            </a:r>
            <a:r>
              <a:rPr lang="en-US" altLang="ko-KR" b="0" dirty="0"/>
              <a:t>, </a:t>
            </a:r>
            <a:r>
              <a:rPr lang="en-US" altLang="ko-KR" b="0" dirty="0" err="1"/>
              <a:t>Eyal</a:t>
            </a:r>
            <a:r>
              <a:rPr lang="en-US" altLang="ko-KR" b="0" dirty="0"/>
              <a:t> </a:t>
            </a:r>
            <a:r>
              <a:rPr lang="en-US" altLang="ko-KR" b="0" dirty="0" err="1"/>
              <a:t>Kushilevitz</a:t>
            </a:r>
            <a:r>
              <a:rPr lang="en-US" altLang="ko-KR" b="0" dirty="0"/>
              <a:t>, </a:t>
            </a:r>
            <a:r>
              <a:rPr lang="en-US" altLang="ko-KR" b="0" dirty="0" err="1"/>
              <a:t>Rafail</a:t>
            </a:r>
            <a:r>
              <a:rPr lang="en-US" altLang="ko-KR" b="0" dirty="0"/>
              <a:t> Ostrovsky, Amit </a:t>
            </a:r>
            <a:r>
              <a:rPr lang="en-US" altLang="ko-KR" b="0" dirty="0" err="1"/>
              <a:t>Sahai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dirty="0"/>
              <a:t>[GMO] “</a:t>
            </a:r>
            <a:r>
              <a:rPr lang="en-US" altLang="ko-KR" dirty="0" err="1"/>
              <a:t>ZKBoo</a:t>
            </a:r>
            <a:r>
              <a:rPr lang="en-US" altLang="ko-KR" dirty="0"/>
              <a:t>: Faster Zero-Knowledge for Boolean Circuits (2016)”</a:t>
            </a:r>
            <a:br>
              <a:rPr lang="en-US" altLang="ko-KR" dirty="0"/>
            </a:br>
            <a:r>
              <a:rPr lang="en-US" altLang="ko-KR" b="0" dirty="0"/>
              <a:t>Irene </a:t>
            </a:r>
            <a:r>
              <a:rPr lang="en-US" altLang="ko-KR" b="0" dirty="0" err="1"/>
              <a:t>Giacomelli</a:t>
            </a:r>
            <a:r>
              <a:rPr lang="en-US" altLang="ko-KR" b="0" dirty="0"/>
              <a:t>, Jesper Madsen, Claudio </a:t>
            </a:r>
            <a:r>
              <a:rPr lang="en-US" altLang="ko-KR" b="0" dirty="0" err="1"/>
              <a:t>Orlandi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dirty="0"/>
              <a:t>[CDG] “</a:t>
            </a:r>
            <a:r>
              <a:rPr lang="en-US" altLang="ko-KR" dirty="0">
                <a:ea typeface="맑은 고딕" pitchFamily="50" charset="-127"/>
              </a:rPr>
              <a:t>Post-Quantum Zero-Knowledge and Signatures from Symmetric-Key </a:t>
            </a:r>
            <a:r>
              <a:rPr lang="en-US" altLang="ko-KR" dirty="0" err="1">
                <a:ea typeface="맑은 고딕" pitchFamily="50" charset="-127"/>
              </a:rPr>
              <a:t>Primitivies</a:t>
            </a:r>
            <a:r>
              <a:rPr lang="en-US" altLang="ko-KR" dirty="0">
                <a:ea typeface="맑은 고딕" pitchFamily="50" charset="-127"/>
              </a:rPr>
              <a:t> (2017)”</a:t>
            </a:r>
            <a:br>
              <a:rPr lang="en-US" altLang="ko-KR" dirty="0">
                <a:ea typeface="맑은 고딕" pitchFamily="50" charset="-127"/>
              </a:rPr>
            </a:br>
            <a:r>
              <a:rPr lang="en-US" altLang="ko-KR" b="0" dirty="0">
                <a:ea typeface="맑은 고딕" pitchFamily="50" charset="-127"/>
              </a:rPr>
              <a:t>Melissa Chase, David </a:t>
            </a:r>
            <a:r>
              <a:rPr lang="en-US" altLang="ko-KR" b="0" dirty="0" err="1">
                <a:ea typeface="맑은 고딕" pitchFamily="50" charset="-127"/>
              </a:rPr>
              <a:t>Derler</a:t>
            </a:r>
            <a:r>
              <a:rPr lang="en-US" altLang="ko-KR" b="0" dirty="0">
                <a:ea typeface="맑은 고딕" pitchFamily="50" charset="-127"/>
              </a:rPr>
              <a:t>, Steven </a:t>
            </a:r>
            <a:r>
              <a:rPr lang="en-US" altLang="ko-KR" b="0" dirty="0" err="1">
                <a:ea typeface="맑은 고딕" pitchFamily="50" charset="-127"/>
              </a:rPr>
              <a:t>Goldfeder</a:t>
            </a:r>
            <a:r>
              <a:rPr lang="en-US" altLang="ko-KR" b="0" dirty="0">
                <a:ea typeface="맑은 고딕" pitchFamily="50" charset="-127"/>
              </a:rPr>
              <a:t>, </a:t>
            </a:r>
            <a:r>
              <a:rPr lang="en-US" altLang="ko-KR" b="0" dirty="0" err="1">
                <a:ea typeface="맑은 고딕" pitchFamily="50" charset="-127"/>
              </a:rPr>
              <a:t>Caludio</a:t>
            </a:r>
            <a:r>
              <a:rPr lang="en-US" altLang="ko-KR" b="0" dirty="0">
                <a:ea typeface="맑은 고딕" pitchFamily="50" charset="-127"/>
              </a:rPr>
              <a:t> </a:t>
            </a:r>
            <a:r>
              <a:rPr lang="en-US" altLang="ko-KR" b="0" dirty="0" err="1">
                <a:ea typeface="맑은 고딕" pitchFamily="50" charset="-127"/>
              </a:rPr>
              <a:t>Orlandi</a:t>
            </a:r>
            <a:r>
              <a:rPr lang="en-US" altLang="ko-KR" b="0" dirty="0">
                <a:ea typeface="맑은 고딕" pitchFamily="50" charset="-127"/>
              </a:rPr>
              <a:t>, </a:t>
            </a:r>
            <a:br>
              <a:rPr lang="en-US" altLang="ko-KR" b="0" dirty="0">
                <a:ea typeface="맑은 고딕" pitchFamily="50" charset="-127"/>
              </a:rPr>
            </a:br>
            <a:r>
              <a:rPr lang="en-US" altLang="ko-KR" b="0" dirty="0">
                <a:ea typeface="맑은 고딕" pitchFamily="50" charset="-127"/>
              </a:rPr>
              <a:t>Sebastian </a:t>
            </a:r>
            <a:r>
              <a:rPr lang="en-US" altLang="ko-KR" b="0" dirty="0" err="1">
                <a:ea typeface="맑은 고딕" pitchFamily="50" charset="-127"/>
              </a:rPr>
              <a:t>Ramacher</a:t>
            </a:r>
            <a:r>
              <a:rPr lang="en-US" altLang="ko-KR" b="0" dirty="0">
                <a:ea typeface="맑은 고딕" pitchFamily="50" charset="-127"/>
              </a:rPr>
              <a:t>, Christian </a:t>
            </a:r>
            <a:r>
              <a:rPr lang="en-US" altLang="ko-KR" b="0" dirty="0" err="1">
                <a:ea typeface="맑은 고딕" pitchFamily="50" charset="-127"/>
              </a:rPr>
              <a:t>Rechberger</a:t>
            </a:r>
            <a:r>
              <a:rPr lang="en-US" altLang="ko-KR" b="0" dirty="0">
                <a:ea typeface="맑은 고딕" pitchFamily="50" charset="-127"/>
              </a:rPr>
              <a:t>, Daniel </a:t>
            </a:r>
            <a:r>
              <a:rPr lang="en-US" altLang="ko-KR" b="0" dirty="0" err="1">
                <a:ea typeface="맑은 고딕" pitchFamily="50" charset="-127"/>
              </a:rPr>
              <a:t>Slamanig</a:t>
            </a:r>
            <a:r>
              <a:rPr lang="en-US" altLang="ko-KR" b="0" dirty="0">
                <a:ea typeface="맑은 고딕" pitchFamily="50" charset="-127"/>
              </a:rPr>
              <a:t>,</a:t>
            </a:r>
            <a:br>
              <a:rPr lang="en-US" altLang="ko-KR" b="0" dirty="0">
                <a:ea typeface="맑은 고딕" pitchFamily="50" charset="-127"/>
              </a:rPr>
            </a:br>
            <a:r>
              <a:rPr lang="en-US" altLang="ko-KR" b="0" dirty="0">
                <a:ea typeface="맑은 고딕" pitchFamily="50" charset="-127"/>
              </a:rPr>
              <a:t>Greg </a:t>
            </a:r>
            <a:r>
              <a:rPr lang="en-US" altLang="ko-KR" b="0" dirty="0" err="1">
                <a:ea typeface="맑은 고딕" pitchFamily="50" charset="-127"/>
              </a:rPr>
              <a:t>Zaverucha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35517-5F10-4BC5-AE40-B91A572E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B2753C-D74A-4C48-BFAA-20FF195A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8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C8DC0-8EE0-4D4C-B141-98E48494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240C11-B9CA-4FD1-A9A2-8960E5BD8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“Zero-Knowledge from Secure Multiparty Computation (2009)”</a:t>
            </a:r>
          </a:p>
          <a:p>
            <a:pPr lvl="1"/>
            <a:r>
              <a:rPr lang="en-US" altLang="ko-KR" dirty="0"/>
              <a:t>Secure Multiparty Computation</a:t>
            </a:r>
            <a:r>
              <a:rPr lang="ko-KR" altLang="en-US" dirty="0"/>
              <a:t>을 이용해서 </a:t>
            </a:r>
            <a:r>
              <a:rPr lang="en-US" altLang="ko-KR" dirty="0"/>
              <a:t>Zero-Knowledge proof protocol</a:t>
            </a:r>
            <a:r>
              <a:rPr lang="ko-KR" altLang="en-US" dirty="0"/>
              <a:t>을 만들 수 있다</a:t>
            </a:r>
            <a:r>
              <a:rPr lang="en-US" altLang="ko-KR" dirty="0"/>
              <a:t>.</a:t>
            </a:r>
          </a:p>
          <a:p>
            <a:endParaRPr lang="en-US" altLang="ko-KR" b="0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ZKBoo</a:t>
            </a:r>
            <a:r>
              <a:rPr lang="en-US" altLang="ko-KR" dirty="0"/>
              <a:t>: Faster Zero-Knowledge for Boolean Circuits (2016)”</a:t>
            </a:r>
          </a:p>
          <a:p>
            <a:pPr lvl="1"/>
            <a:r>
              <a:rPr lang="en-US" altLang="ko-KR" dirty="0"/>
              <a:t>2009</a:t>
            </a:r>
            <a:r>
              <a:rPr lang="ko-KR" altLang="en-US" dirty="0"/>
              <a:t>년에 나온 논문을 토대로 실용적인 </a:t>
            </a:r>
            <a:r>
              <a:rPr lang="en-US" altLang="ko-KR" dirty="0" err="1"/>
              <a:t>ZKBoo</a:t>
            </a:r>
            <a:r>
              <a:rPr lang="ko-KR" altLang="en-US" dirty="0"/>
              <a:t>를 설계</a:t>
            </a:r>
            <a:r>
              <a:rPr lang="en-US" altLang="ko-KR" dirty="0"/>
              <a:t>.</a:t>
            </a:r>
          </a:p>
          <a:p>
            <a:endParaRPr lang="en-US" altLang="ko-KR" b="0" dirty="0"/>
          </a:p>
          <a:p>
            <a:r>
              <a:rPr lang="en-US" altLang="ko-KR" dirty="0"/>
              <a:t>“</a:t>
            </a:r>
            <a:r>
              <a:rPr lang="en-US" altLang="ko-KR" dirty="0">
                <a:ea typeface="맑은 고딕" pitchFamily="50" charset="-127"/>
              </a:rPr>
              <a:t>Post-Quantum Zero-Knowledge and Signatures from Symmetric-Key </a:t>
            </a:r>
            <a:r>
              <a:rPr lang="en-US" altLang="ko-KR" dirty="0" err="1">
                <a:ea typeface="맑은 고딕" pitchFamily="50" charset="-127"/>
              </a:rPr>
              <a:t>Primitivies</a:t>
            </a:r>
            <a:r>
              <a:rPr lang="en-US" altLang="ko-KR" dirty="0">
                <a:ea typeface="맑은 고딕" pitchFamily="50" charset="-127"/>
              </a:rPr>
              <a:t> (2017)”</a:t>
            </a:r>
          </a:p>
          <a:p>
            <a:pPr lvl="1"/>
            <a:r>
              <a:rPr lang="en-US" altLang="ko-KR" dirty="0" err="1"/>
              <a:t>ZKBoo</a:t>
            </a:r>
            <a:r>
              <a:rPr lang="ko-KR" altLang="en-US" dirty="0"/>
              <a:t>를 최적화 하여 </a:t>
            </a:r>
            <a:r>
              <a:rPr lang="en-US" altLang="ko-KR" dirty="0"/>
              <a:t>ZKB++</a:t>
            </a:r>
            <a:r>
              <a:rPr lang="ko-KR" altLang="en-US" dirty="0"/>
              <a:t>로 개선</a:t>
            </a:r>
            <a:r>
              <a:rPr lang="en-US" altLang="ko-KR" dirty="0"/>
              <a:t> </a:t>
            </a:r>
            <a:r>
              <a:rPr lang="ko-KR" altLang="en-US" dirty="0"/>
              <a:t>및 서명으로 변환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63E25A-07A7-40A7-B90C-DF677E52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B13777-38D8-4A29-8DCA-00CCAA02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0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F84E576-F989-4B1B-8C7E-56435D052A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altLang="ko-KR" dirty="0"/>
                  <a:t>-protocol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F84E576-F989-4B1B-8C7E-56435D052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6129" b="-35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8D7DE4-026E-4449-B46B-3FECAEA1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D3C65C-04D5-489E-B7DA-A51131CC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4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0FE5634-A0D9-4FF8-AF55-B6B36C150629}"/>
              </a:ext>
            </a:extLst>
          </p:cNvPr>
          <p:cNvGrpSpPr/>
          <p:nvPr/>
        </p:nvGrpSpPr>
        <p:grpSpPr>
          <a:xfrm>
            <a:off x="971600" y="1835334"/>
            <a:ext cx="7035072" cy="3187332"/>
            <a:chOff x="1065320" y="1713390"/>
            <a:chExt cx="10061360" cy="41828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7093066-66D1-453D-898F-BF546526164C}"/>
                </a:ext>
              </a:extLst>
            </p:cNvPr>
            <p:cNvSpPr/>
            <p:nvPr/>
          </p:nvSpPr>
          <p:spPr bwMode="auto">
            <a:xfrm>
              <a:off x="1065320" y="1713390"/>
              <a:ext cx="1313896" cy="403046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Prover</a:t>
              </a: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6D04C7F-735B-4CDB-8AC3-75DAC5785461}"/>
                </a:ext>
              </a:extLst>
            </p:cNvPr>
            <p:cNvSpPr/>
            <p:nvPr/>
          </p:nvSpPr>
          <p:spPr bwMode="auto">
            <a:xfrm>
              <a:off x="9812784" y="1865790"/>
              <a:ext cx="1313896" cy="403046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Verifier</a:t>
              </a: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640B7EB-4D64-4256-85D9-4C00E75629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78711" y="2352583"/>
              <a:ext cx="679141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2BCF31-F16F-4C06-8488-C87A2528BFE4}"/>
                    </a:ext>
                  </a:extLst>
                </p:cNvPr>
                <p:cNvSpPr txBox="1"/>
                <p:nvPr/>
              </p:nvSpPr>
              <p:spPr>
                <a:xfrm>
                  <a:off x="5193437" y="1983252"/>
                  <a:ext cx="2526870" cy="4846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2">
                          <a:lumMod val="10000"/>
                        </a:schemeClr>
                      </a:solidFill>
                    </a:rPr>
                    <a:t>Commitment </a:t>
                  </a:r>
                  <a14:m>
                    <m:oMath xmlns:m="http://schemas.openxmlformats.org/officeDocument/2006/math">
                      <m:r>
                        <a:rPr lang="en-US" altLang="ko-KR" b="1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ko-KR" altLang="en-US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2BCF31-F16F-4C06-8488-C87A2528B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3437" y="1983252"/>
                  <a:ext cx="2526870" cy="484689"/>
                </a:xfrm>
                <a:prstGeom prst="rect">
                  <a:avLst/>
                </a:prstGeom>
                <a:blipFill>
                  <a:blip r:embed="rId3"/>
                  <a:stretch>
                    <a:fillRect l="-3103"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D18DF0D-044D-449D-93DF-95FE302B5240}"/>
                </a:ext>
              </a:extLst>
            </p:cNvPr>
            <p:cNvCxnSpPr/>
            <p:nvPr/>
          </p:nvCxnSpPr>
          <p:spPr bwMode="auto">
            <a:xfrm flipH="1">
              <a:off x="2698812" y="3429000"/>
              <a:ext cx="687131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EC8826-B908-43F7-98A1-F012C15E733A}"/>
                    </a:ext>
                  </a:extLst>
                </p:cNvPr>
                <p:cNvSpPr txBox="1"/>
                <p:nvPr/>
              </p:nvSpPr>
              <p:spPr>
                <a:xfrm>
                  <a:off x="5335302" y="2987907"/>
                  <a:ext cx="14879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2">
                          <a:lumMod val="10000"/>
                        </a:schemeClr>
                      </a:solidFill>
                    </a:rPr>
                    <a:t>Challenge </a:t>
                  </a:r>
                  <a14:m>
                    <m:oMath xmlns:m="http://schemas.openxmlformats.org/officeDocument/2006/math">
                      <m:r>
                        <a:rPr lang="en-US" altLang="ko-KR" b="1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ko-KR" altLang="en-US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EC8826-B908-43F7-98A1-F012C15E7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5302" y="2987907"/>
                  <a:ext cx="148790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678" t="-10638" r="-40936" b="-617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E6124F4-4BEF-42BA-A38C-446BEB0ED47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91623" y="4560813"/>
              <a:ext cx="679141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06AB7E7-1796-472C-9ECA-ACDC27E0CAAA}"/>
                    </a:ext>
                  </a:extLst>
                </p:cNvPr>
                <p:cNvSpPr txBox="1"/>
                <p:nvPr/>
              </p:nvSpPr>
              <p:spPr>
                <a:xfrm>
                  <a:off x="5381702" y="4064323"/>
                  <a:ext cx="1428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chemeClr val="bg2">
                          <a:lumMod val="10000"/>
                        </a:schemeClr>
                      </a:solidFill>
                    </a:rPr>
                    <a:t>Openings </a:t>
                  </a:r>
                  <a14:m>
                    <m:oMath xmlns:m="http://schemas.openxmlformats.org/officeDocument/2006/math">
                      <m:r>
                        <a:rPr lang="en-US" altLang="ko-KR" b="1" i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b="1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ko-KR" altLang="en-US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06AB7E7-1796-472C-9ECA-ACDC27E0C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702" y="4064323"/>
                  <a:ext cx="142859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878" t="-13043" r="-41463" b="-652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304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C75D9-0AF6-446C-9DBE-9EC407A8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Secure Multiparty Computation (MPC)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5E1CDF-1934-4FF0-8FDD-E76E73FFB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Secure Multiparty Computation protocol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b="0" dirty="0"/>
                  <a:t> (MPC)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MPC player,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`s secret</a:t>
                </a:r>
              </a:p>
              <a:p>
                <a:pPr lvl="1"/>
                <a:r>
                  <a:rPr lang="en-US" altLang="ko-KR" dirty="0"/>
                  <a:t>Obj) Player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dirty="0"/>
                  <a:t>이 자신의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를 숨긴 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를 계산하고 싶다</a:t>
                </a:r>
                <a:r>
                  <a:rPr lang="en-US" altLang="ko-KR" dirty="0"/>
                  <a:t>.</a:t>
                </a:r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dirty="0"/>
                  <a:t>를 수행하면서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가 받은 메시지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random tape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의 연접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각 </a:t>
                </a:r>
                <a:r>
                  <a:rPr lang="en-US" altLang="ko-KR" dirty="0"/>
                  <a:t>player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는 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가 주어져 있으며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를 통해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View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를 얻는다</a:t>
                </a:r>
                <a:r>
                  <a:rPr lang="en-US" altLang="ko-KR" dirty="0"/>
                  <a:t>.</a:t>
                </a:r>
                <a:endParaRPr lang="ko-KR" altLang="en-US" i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5E1CDF-1934-4FF0-8FDD-E76E73FFB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5ABF6F-6E6D-437F-9B1B-62452B63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779AE5-42F6-47F2-8666-949D4A96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5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8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58091-59A3-4DDC-9B86-8A46B77B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Secure Multiparty Computation (MPC)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24F071-C63B-47BD-91A3-7918ECC6E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b="1" dirty="0"/>
                  <a:t>Correctness)</a:t>
                </a:r>
                <a:br>
                  <a:rPr lang="en-US" altLang="ko-KR" b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has</a:t>
                </a:r>
                <a:r>
                  <a:rPr lang="ko-KR" altLang="en-US" dirty="0"/>
                  <a:t> </a:t>
                </a:r>
                <a:r>
                  <a:rPr lang="en-US" altLang="ko-KR" b="1" dirty="0"/>
                  <a:t>perfect correctness</a:t>
                </a:r>
                <a:r>
                  <a:rPr lang="en-US" altLang="ko-KR" dirty="0"/>
                  <a:t> </a:t>
                </a:r>
                <a:br>
                  <a:rPr lang="en-US" altLang="ko-KR" dirty="0"/>
                </a:br>
                <a:r>
                  <a:rPr lang="en-US" altLang="ko-KR" dirty="0"/>
                  <a:t>  if for any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Vi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b="1" dirty="0"/>
                  <a:t>Privacy)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has</a:t>
                </a:r>
                <a:r>
                  <a:rPr lang="ko-KR" altLang="en-US" dirty="0"/>
                  <a:t> </a:t>
                </a:r>
                <a:r>
                  <a:rPr lang="en-US" altLang="ko-KR" b="1" dirty="0"/>
                  <a:t>perfect </a:t>
                </a:r>
                <a:r>
                  <a:rPr lang="en-US" altLang="ko-KR" b="1" i="1" dirty="0"/>
                  <a:t>t</a:t>
                </a:r>
                <a:r>
                  <a:rPr lang="en-US" altLang="ko-KR" b="1" dirty="0"/>
                  <a:t>-privacy</a:t>
                </a:r>
                <a:br>
                  <a:rPr lang="en-US" altLang="ko-KR" dirty="0"/>
                </a:br>
                <a:r>
                  <a:rPr lang="en-US" altLang="ko-KR" dirty="0"/>
                  <a:t>  if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⊂[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/>
                  <a:t>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, there exists a PPT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the </a:t>
                </a:r>
                <a:br>
                  <a:rPr lang="en-US" altLang="ko-KR" dirty="0"/>
                </a:br>
                <a:r>
                  <a:rPr lang="en-US" altLang="ko-KR" dirty="0"/>
                  <a:t>  joint view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View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/>
                  <a:t>has same distribution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b="1" dirty="0"/>
                  <a:t>Robustness)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has </a:t>
                </a:r>
                <a:r>
                  <a:rPr lang="en-US" altLang="ko-KR" b="1" dirty="0"/>
                  <a:t>perfect </a:t>
                </a:r>
                <a:r>
                  <a:rPr lang="en-US" altLang="ko-KR" b="1" i="1" dirty="0"/>
                  <a:t>r</a:t>
                </a:r>
                <a:r>
                  <a:rPr lang="en-US" altLang="ko-KR" b="1" dirty="0"/>
                  <a:t>-robustness</a:t>
                </a:r>
                <a:br>
                  <a:rPr lang="en-US" altLang="ko-KR" dirty="0"/>
                </a:br>
                <a:r>
                  <a:rPr lang="en-US" altLang="ko-KR" dirty="0"/>
                  <a:t>  if for all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⊂[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/>
                  <a:t>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/>
                  <a:t>even assuming that all the players in </a:t>
                </a:r>
                <a:r>
                  <a:rPr lang="en-US" altLang="ko-KR" i="1" dirty="0"/>
                  <a:t>A</a:t>
                </a:r>
                <a:r>
                  <a:rPr lang="en-US" altLang="ko-KR" dirty="0"/>
                  <a:t> </a:t>
                </a:r>
                <a:br>
                  <a:rPr lang="en-US" altLang="ko-KR" dirty="0"/>
                </a:br>
                <a:r>
                  <a:rPr lang="en-US" altLang="ko-KR" dirty="0"/>
                  <a:t>  have been arbitrarily corrupted,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Vi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dirty="0"/>
                  <a:t> for all </a:t>
                </a:r>
                <a:br>
                  <a:rPr lang="en-US" altLang="ko-KR" dirty="0"/>
                </a:br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</a:p>
              <a:p>
                <a:pPr lvl="1"/>
                <a:endParaRPr lang="ko-KR" altLang="en-US" b="1" i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24F071-C63B-47BD-91A3-7918ECC6E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83E9A-C7BE-4689-B6C1-7CA89FCD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788674-DCB9-4F4E-8E37-3AFD42AA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6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1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61C5E-5169-4289-B972-F827DA8E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Secure Multiparty Computation (MPC)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D1B008-395D-4088-A528-8768E8391F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</a:t>
                </a:r>
                <a:r>
                  <a:rPr lang="en-US" altLang="ko-KR" b="1" dirty="0"/>
                  <a:t>consistent</a:t>
                </a:r>
                <a:r>
                  <a:rPr lang="en-US" altLang="ko-KR" dirty="0"/>
                  <a:t> </a:t>
                </a:r>
                <a:br>
                  <a:rPr lang="en-US" altLang="ko-KR" dirty="0"/>
                </a:br>
                <a:r>
                  <a:rPr lang="en-US" altLang="ko-KR" dirty="0"/>
                  <a:t>  if the message reported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as incoming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are equal to </a:t>
                </a:r>
                <a:br>
                  <a:rPr lang="en-US" altLang="ko-KR" dirty="0"/>
                </a:br>
                <a:r>
                  <a:rPr lang="en-US" altLang="ko-KR" dirty="0"/>
                  <a:t>  the outgoing message implied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[IKOS] Lemma 2.3.</a:t>
                </a:r>
                <a:br>
                  <a:rPr lang="en-US" altLang="ko-KR" dirty="0"/>
                </a:br>
                <a:r>
                  <a:rPr lang="en-US" altLang="ko-KR" dirty="0"/>
                  <a:t>All pairs of views are consistent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there exists an honest execution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D1B008-395D-4088-A528-8768E8391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45D132-92A9-4E35-9268-A5B3131D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263E7E-1FC8-4135-A94C-99FD0893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7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6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 from MPC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IKOS scheme</a:t>
                </a:r>
              </a:p>
              <a:p>
                <a:pPr lvl="1"/>
                <a:r>
                  <a:rPr lang="en-US" altLang="ko-KR" b="0" dirty="0"/>
                  <a:t>Prover </a:t>
                </a:r>
                <a:r>
                  <a:rPr lang="en-US" altLang="ko-KR" b="0" i="1" dirty="0"/>
                  <a:t>P</a:t>
                </a:r>
                <a:r>
                  <a:rPr lang="en-US" altLang="ko-KR" b="0" dirty="0"/>
                  <a:t> and Verifier </a:t>
                </a:r>
                <a:r>
                  <a:rPr lang="en-US" altLang="ko-KR" b="0" i="1" dirty="0"/>
                  <a:t>V</a:t>
                </a:r>
                <a:r>
                  <a:rPr lang="en-US" altLang="ko-KR" b="0" dirty="0"/>
                  <a:t> know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i="1" dirty="0"/>
                  <a:t>P </a:t>
                </a:r>
                <a:r>
                  <a:rPr lang="en-US" altLang="ko-KR" dirty="0"/>
                  <a:t>knows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 and wants to prove that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know </a:t>
                </a:r>
                <a:r>
                  <a:rPr lang="en-US" altLang="ko-KR" i="1" dirty="0"/>
                  <a:t>x</a:t>
                </a:r>
                <a:r>
                  <a:rPr lang="en-US" altLang="ko-KR" dirty="0"/>
                  <a:t> .</a:t>
                </a:r>
              </a:p>
              <a:p>
                <a:pPr lvl="1"/>
                <a:endParaRPr lang="en-US" altLang="ko-KR" b="0" dirty="0"/>
              </a:p>
              <a:p>
                <a:pPr lvl="1"/>
                <a:r>
                  <a:rPr lang="en-US" altLang="ko-KR" b="0" dirty="0"/>
                  <a:t>Prover runs “in her head”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MPC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b="0" dirty="0"/>
                  <a:t> </a:t>
                </a:r>
                <a:r>
                  <a:rPr lang="en-US" altLang="ko-KR" b="0" dirty="0"/>
                  <a:t>and gets views. </a:t>
                </a:r>
                <a:br>
                  <a:rPr lang="en-US" altLang="ko-KR" b="0" dirty="0"/>
                </a:br>
                <a:r>
                  <a:rPr lang="en-US" altLang="ko-KR" dirty="0"/>
                  <a:t>  </a:t>
                </a:r>
                <a:r>
                  <a:rPr lang="en-US" altLang="ko-KR" b="0" dirty="0"/>
                  <a:t> 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⊕⋯⊕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b="0" dirty="0"/>
                  <a:t> </a:t>
                </a:r>
                <a:br>
                  <a:rPr lang="en-US" altLang="ko-KR" b="0" dirty="0"/>
                </a:br>
                <a:r>
                  <a:rPr lang="en-US" altLang="ko-KR" b="0" dirty="0"/>
                  <a:t>Prover sends some views to Verifier and Verifier checks it.</a:t>
                </a:r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8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922460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922460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3922460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3922460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2035996" y="3513505"/>
                <a:ext cx="5044522" cy="540469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sz="1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-party MPC protocol with correctness,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t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-privacy,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r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-robustness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996" y="3513505"/>
                <a:ext cx="5044522" cy="540469"/>
              </a:xfrm>
              <a:prstGeom prst="rect">
                <a:avLst/>
              </a:prstGeom>
              <a:blipFill>
                <a:blip r:embed="rId6"/>
                <a:stretch>
                  <a:fillRect b="-6593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4282500"/>
                <a:ext cx="5072927" cy="1190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Sample random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en-US" altLang="ko-KR" sz="1400" dirty="0" err="1"/>
                  <a:t>s.t.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⊕…⊕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400" dirty="0"/>
                  <a:t>) 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Vie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.</a:t>
                </a: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400" dirty="0"/>
                  <a:t>.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4282500"/>
                <a:ext cx="5072927" cy="1190582"/>
              </a:xfrm>
              <a:prstGeom prst="rect">
                <a:avLst/>
              </a:prstGeom>
              <a:blipFill>
                <a:blip r:embed="rId7"/>
                <a:stretch>
                  <a:fillRect l="-361" t="-1026" b="-4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6F1D15-461D-44BF-AB17-87AEF60DE0CD}"/>
              </a:ext>
            </a:extLst>
          </p:cNvPr>
          <p:cNvCxnSpPr/>
          <p:nvPr/>
        </p:nvCxnSpPr>
        <p:spPr bwMode="auto">
          <a:xfrm>
            <a:off x="1763688" y="5650652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51025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 from MPC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IKOS scheme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</a:t>
                </a:r>
                <a:r>
                  <a:rPr lang="en-US" altLang="ko-KR" dirty="0"/>
                  <a:t> and Verifier </a:t>
                </a:r>
                <a:r>
                  <a:rPr lang="en-US" altLang="ko-KR" i="1" dirty="0"/>
                  <a:t>V</a:t>
                </a:r>
                <a:r>
                  <a:rPr lang="en-US" altLang="ko-KR" dirty="0"/>
                  <a:t>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i="1" dirty="0"/>
                  <a:t>P </a:t>
                </a:r>
                <a:r>
                  <a:rPr lang="en-US" altLang="ko-KR" dirty="0"/>
                  <a:t>knows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 and wants to prove that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know </a:t>
                </a:r>
                <a:r>
                  <a:rPr lang="en-US" altLang="ko-KR" i="1" dirty="0"/>
                  <a:t>x</a:t>
                </a:r>
                <a:r>
                  <a:rPr lang="en-US" altLang="ko-KR" dirty="0"/>
                  <a:t> 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9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26189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261891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326189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326189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2035996" y="2852936"/>
                <a:ext cx="5029710" cy="540469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sz="1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-party MPC protocol with correctness,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t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-privacy,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r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-robustness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996" y="2852936"/>
                <a:ext cx="5029710" cy="540469"/>
              </a:xfrm>
              <a:prstGeom prst="rect">
                <a:avLst/>
              </a:prstGeom>
              <a:blipFill>
                <a:blip r:embed="rId5"/>
                <a:stretch>
                  <a:fillRect b="-6593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3621931"/>
                <a:ext cx="501281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Choose a subset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Sends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3621931"/>
                <a:ext cx="5012814" cy="738664"/>
              </a:xfrm>
              <a:prstGeom prst="rect">
                <a:avLst/>
              </a:prstGeom>
              <a:blipFill>
                <a:blip r:embed="rId6"/>
                <a:stretch>
                  <a:fillRect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6F1D15-461D-44BF-AB17-87AEF60DE0CD}"/>
              </a:ext>
            </a:extLst>
          </p:cNvPr>
          <p:cNvCxnSpPr/>
          <p:nvPr/>
        </p:nvCxnSpPr>
        <p:spPr bwMode="auto">
          <a:xfrm>
            <a:off x="1835696" y="4414019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D37416-4F52-4225-ADF6-24D4547A7BC6}"/>
                  </a:ext>
                </a:extLst>
              </p:cNvPr>
              <p:cNvSpPr txBox="1"/>
              <p:nvPr/>
            </p:nvSpPr>
            <p:spPr>
              <a:xfrm>
                <a:off x="1810354" y="4836913"/>
                <a:ext cx="19513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Reveals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for all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D37416-4F52-4225-ADF6-24D4547A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354" y="4836913"/>
                <a:ext cx="1951303" cy="307777"/>
              </a:xfrm>
              <a:prstGeom prst="rect">
                <a:avLst/>
              </a:prstGeom>
              <a:blipFill>
                <a:blip r:embed="rId7"/>
                <a:stretch>
                  <a:fillRect l="-938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B28C363-8112-4166-AAE4-77AA1617F0EC}"/>
              </a:ext>
            </a:extLst>
          </p:cNvPr>
          <p:cNvCxnSpPr/>
          <p:nvPr/>
        </p:nvCxnSpPr>
        <p:spPr bwMode="auto">
          <a:xfrm>
            <a:off x="1835696" y="5350123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0274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 from MPC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IKOS scheme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</a:t>
                </a:r>
                <a:r>
                  <a:rPr lang="en-US" altLang="ko-KR" dirty="0"/>
                  <a:t> and Verifier </a:t>
                </a:r>
                <a:r>
                  <a:rPr lang="en-US" altLang="ko-KR" i="1" dirty="0"/>
                  <a:t>V</a:t>
                </a:r>
                <a:r>
                  <a:rPr lang="en-US" altLang="ko-KR" dirty="0"/>
                  <a:t>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i="1" dirty="0"/>
                  <a:t>P </a:t>
                </a:r>
                <a:r>
                  <a:rPr lang="en-US" altLang="ko-KR" dirty="0"/>
                  <a:t>knows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 and wants to prove that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know </a:t>
                </a:r>
                <a:r>
                  <a:rPr lang="en-US" altLang="ko-KR" i="1" dirty="0"/>
                  <a:t>x</a:t>
                </a:r>
                <a:r>
                  <a:rPr lang="en-US" altLang="ko-KR" dirty="0"/>
                  <a:t> .</a:t>
                </a:r>
              </a:p>
              <a:p>
                <a:endParaRPr lang="en-US" altLang="ko-KR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10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189883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189883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3189883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3189883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2035996" y="2780928"/>
                <a:ext cx="5044522" cy="540469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sz="1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-party MPC protocol with correctness,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t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-privacy, </a:t>
                </a:r>
                <a:r>
                  <a:rPr lang="en-US" altLang="ko-KR" sz="1400" i="1" dirty="0">
                    <a:solidFill>
                      <a:schemeClr val="bg2">
                        <a:lumMod val="10000"/>
                      </a:schemeClr>
                    </a:solidFill>
                  </a:rPr>
                  <a:t>r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-robustness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996" y="2780928"/>
                <a:ext cx="5044522" cy="540469"/>
              </a:xfrm>
              <a:prstGeom prst="rect">
                <a:avLst/>
              </a:prstGeom>
              <a:blipFill>
                <a:blip r:embed="rId5"/>
                <a:stretch>
                  <a:fillRect b="-6593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885992" y="3760003"/>
                <a:ext cx="5012814" cy="1534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View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REJECT.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is not consistent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</a:t>
                </a:r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Else, ACCEPT</a:t>
                </a:r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992" y="3760003"/>
                <a:ext cx="5012814" cy="1534651"/>
              </a:xfrm>
              <a:prstGeom prst="rect">
                <a:avLst/>
              </a:prstGeom>
              <a:blipFill>
                <a:blip r:embed="rId6"/>
                <a:stretch>
                  <a:fillRect r="-1215" b="-2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0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78B1A-6A80-4250-BB2A-4BD807F5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 from MPC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0527C3F-4443-46F8-9AC0-2D16D15F02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b="1" dirty="0"/>
                  <a:t>Completeness</a:t>
                </a:r>
                <a:br>
                  <a:rPr lang="en-US" altLang="ko-KR" dirty="0"/>
                </a:br>
                <a:br>
                  <a:rPr lang="en-US" altLang="ko-KR" dirty="0"/>
                </a:br>
                <a:r>
                  <a:rPr lang="en-US" altLang="ko-KR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b="1" dirty="0"/>
                  <a:t> </a:t>
                </a:r>
                <a:r>
                  <a:rPr lang="en-US" altLang="ko-KR" dirty="0"/>
                  <a:t>is perfectly correct and views are produced by honest execution, the ZK protocol is correct. </a:t>
                </a:r>
              </a:p>
              <a:p>
                <a:pPr lvl="1"/>
                <a:endParaRPr lang="en-US" altLang="ko-KR" b="1" dirty="0"/>
              </a:p>
              <a:p>
                <a:pPr lvl="1"/>
                <a:r>
                  <a:rPr lang="en-US" altLang="ko-KR" b="1" dirty="0"/>
                  <a:t>Zero-Knowledge</a:t>
                </a:r>
                <a:br>
                  <a:rPr lang="en-US" altLang="ko-KR" b="1" dirty="0"/>
                </a:br>
                <a:br>
                  <a:rPr lang="en-US" altLang="ko-KR" b="1" dirty="0"/>
                </a:br>
                <a:r>
                  <a:rPr lang="en-US" altLang="ko-KR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b="1" dirty="0"/>
                  <a:t> </a:t>
                </a:r>
                <a:r>
                  <a:rPr lang="en-US" altLang="ko-KR" dirty="0"/>
                  <a:t>has </a:t>
                </a:r>
                <a:r>
                  <a:rPr lang="en-US" altLang="ko-KR" i="1" dirty="0"/>
                  <a:t>t</a:t>
                </a:r>
                <a:r>
                  <a:rPr lang="en-US" altLang="ko-KR" dirty="0"/>
                  <a:t>-privacy, Verifier cannot know about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0527C3F-4443-46F8-9AC0-2D16D15F0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52" r="-5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690BDC-4AD4-4890-853A-3D575B98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37784A-5818-4A4E-9E46-109BD885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11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59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10D67-E627-4982-B2E2-E33196A3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 from MPC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FB610-47EB-42DF-B4EA-9AA5E12E8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715069"/>
                <a:ext cx="8496944" cy="5522243"/>
              </a:xfrm>
            </p:spPr>
            <p:txBody>
              <a:bodyPr/>
              <a:lstStyle/>
              <a:p>
                <a:pPr lvl="1"/>
                <a:r>
                  <a:rPr lang="en-US" altLang="ko-KR" b="1" dirty="0"/>
                  <a:t>Soundness</a:t>
                </a:r>
                <a:br>
                  <a:rPr lang="en-US" altLang="ko-KR" b="1" dirty="0"/>
                </a:br>
                <a:r>
                  <a:rPr lang="en-US" altLang="ko-KR" sz="1800" dirty="0"/>
                  <a:t>Assume that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ko-KR" sz="18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800" b="0" dirty="0"/>
                  <a:t> is not a correct one.</a:t>
                </a:r>
                <a:br>
                  <a:rPr lang="en-US" altLang="ko-KR" sz="1800" b="0" dirty="0"/>
                </a:br>
                <a:br>
                  <a:rPr lang="en-US" altLang="ko-KR" sz="1800" b="0" dirty="0"/>
                </a:br>
                <a:r>
                  <a:rPr lang="en-US" altLang="ko-KR" sz="1400" b="0" dirty="0"/>
                  <a:t>Let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400" b="0" dirty="0"/>
                  <a:t> be a graph that each vertex is View and there exist edge (</a:t>
                </a:r>
                <a:r>
                  <a:rPr lang="en-US" altLang="ko-KR" sz="1400" i="1" dirty="0" err="1"/>
                  <a:t>i</a:t>
                </a:r>
                <a:r>
                  <a:rPr lang="en-US" altLang="ko-KR" sz="1400" i="1" dirty="0"/>
                  <a:t>, j</a:t>
                </a:r>
                <a:r>
                  <a:rPr lang="en-US" altLang="ko-KR" sz="1400" dirty="0"/>
                  <a:t>) </a:t>
                </a:r>
                <a:r>
                  <a:rPr lang="en-US" altLang="ko-KR" sz="1400" dirty="0" err="1"/>
                  <a:t>iff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400" b="0" dirty="0"/>
                  <a:t> are inconsistent.</a:t>
                </a:r>
                <a:br>
                  <a:rPr lang="en-US" altLang="ko-KR" sz="1400" b="0" dirty="0"/>
                </a:br>
                <a:br>
                  <a:rPr lang="en-US" altLang="ko-KR" sz="1800" b="0" dirty="0"/>
                </a:br>
                <a:r>
                  <a:rPr lang="en-US" altLang="ko-KR" sz="1800" b="0" dirty="0"/>
                  <a:t>Case 1)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800" b="0" dirty="0"/>
                  <a:t> has vertex cover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800" b="0" dirty="0"/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:r>
                  <a:rPr lang="en-US" altLang="ko-KR" sz="1800" dirty="0"/>
                  <a:t>By </a:t>
                </a:r>
                <a:r>
                  <a:rPr lang="en-US" altLang="ko-KR" sz="1800" i="1" dirty="0"/>
                  <a:t>r</a:t>
                </a:r>
                <a:r>
                  <a:rPr lang="en-US" altLang="ko-KR" sz="1800" dirty="0"/>
                  <a:t>-robustness,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atin typeface="Cambria Math" panose="02040503050406030204" pitchFamily="18" charset="0"/>
                              </a:rPr>
                              <m:t>View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800" b="0" dirty="0"/>
                  <a:t> for all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ko-KR" sz="1800" b="0" dirty="0"/>
                  <a:t>If </a:t>
                </a:r>
                <a:r>
                  <a:rPr lang="en-US" altLang="ko-KR" sz="1800" b="0" i="1" dirty="0"/>
                  <a:t>V</a:t>
                </a:r>
                <a:r>
                  <a:rPr lang="en-US" altLang="ko-KR" sz="1800" b="0" dirty="0"/>
                  <a:t> choose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800" b="0" dirty="0"/>
                  <a:t>, REJECT.</a:t>
                </a:r>
                <a:br>
                  <a:rPr lang="en-US" altLang="ko-KR" sz="1800" b="0" dirty="0"/>
                </a:br>
                <a:r>
                  <a:rPr lang="en-US" altLang="ko-KR" sz="1800" dirty="0"/>
                  <a:t>Probability that </a:t>
                </a:r>
                <a:r>
                  <a:rPr lang="en-US" altLang="ko-KR" sz="1800" i="1" dirty="0"/>
                  <a:t>V</a:t>
                </a:r>
                <a:r>
                  <a:rPr lang="en-US" altLang="ko-KR" sz="1800" dirty="0"/>
                  <a:t> accept is less than equal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eqAr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eqArr>
                          </m:e>
                        </m:d>
                      </m:den>
                    </m:f>
                  </m:oMath>
                </a14:m>
                <a:br>
                  <a:rPr lang="en-US" altLang="ko-KR" sz="1800" b="0" i="1" dirty="0">
                    <a:latin typeface="Cambria Math" panose="02040503050406030204" pitchFamily="18" charset="0"/>
                  </a:rPr>
                </a:br>
                <a:r>
                  <a:rPr lang="en-US" altLang="ko-KR" sz="1800" b="0" dirty="0">
                    <a:latin typeface="+mn-lt"/>
                  </a:rPr>
                  <a:t>Case 2) size of minimum vertex cover is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br>
                  <a:rPr lang="en-US" altLang="ko-KR" sz="1800" b="0" dirty="0">
                    <a:latin typeface="+mn-lt"/>
                  </a:rPr>
                </a:b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800" b="0" dirty="0">
                    <a:latin typeface="+mn-lt"/>
                  </a:rPr>
                  <a:t>there exists a matching of size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</a:rPr>
                  <a:t>  </a:t>
                </a:r>
                <a:r>
                  <a:rPr lang="en-US" altLang="ko-KR" sz="1800" dirty="0">
                    <a:latin typeface="+mn-lt"/>
                  </a:rPr>
                  <a:t>the matching size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br>
                  <a:rPr lang="en-US" altLang="ko-KR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800" dirty="0" err="1">
                    <a:latin typeface="+mn-lt"/>
                  </a:rPr>
                  <a:t>Pr</a:t>
                </a:r>
                <a:r>
                  <a:rPr lang="en-US" altLang="ko-KR" sz="1800" dirty="0">
                    <a:latin typeface="+mn-lt"/>
                  </a:rPr>
                  <a:t>[</a:t>
                </a:r>
                <a:r>
                  <a:rPr lang="en-US" altLang="ko-KR" sz="1800" i="1" dirty="0">
                    <a:latin typeface="+mn-lt"/>
                  </a:rPr>
                  <a:t>V</a:t>
                </a:r>
                <a:r>
                  <a:rPr lang="en-US" altLang="ko-KR" sz="1800" dirty="0">
                    <a:latin typeface="+mn-lt"/>
                  </a:rPr>
                  <a:t> accept] = </a:t>
                </a:r>
                <a:r>
                  <a:rPr lang="en-US" altLang="ko-KR" sz="1800" dirty="0" err="1">
                    <a:latin typeface="+mn-lt"/>
                  </a:rPr>
                  <a:t>Pr</a:t>
                </a:r>
                <a:r>
                  <a:rPr lang="en-US" altLang="ko-KR" sz="1800" dirty="0">
                    <a:latin typeface="+mn-lt"/>
                  </a:rPr>
                  <a:t>[</a:t>
                </a:r>
                <a:r>
                  <a:rPr lang="en-US" altLang="ko-KR" sz="1800" i="1" dirty="0">
                    <a:latin typeface="+mn-lt"/>
                  </a:rPr>
                  <a:t>V</a:t>
                </a:r>
                <a:r>
                  <a:rPr lang="en-US" altLang="ko-KR" sz="1800" dirty="0">
                    <a:latin typeface="+mn-lt"/>
                  </a:rPr>
                  <a:t> select nodes with no edge in </a:t>
                </a:r>
                <a:r>
                  <a:rPr lang="en-US" altLang="ko-KR" sz="1800" i="1" dirty="0">
                    <a:latin typeface="+mn-lt"/>
                  </a:rPr>
                  <a:t>G</a:t>
                </a:r>
                <a:r>
                  <a:rPr lang="en-US" altLang="ko-KR" sz="1800" dirty="0">
                    <a:latin typeface="+mn-lt"/>
                  </a:rPr>
                  <a:t>] </a:t>
                </a:r>
                <a:br>
                  <a:rPr lang="en-US" altLang="ko-KR" sz="1800" dirty="0">
                    <a:latin typeface="+mn-lt"/>
                  </a:rPr>
                </a:br>
                <a:r>
                  <a:rPr lang="en-US" altLang="ko-KR" sz="1800" dirty="0">
                    <a:latin typeface="+mn-lt"/>
                  </a:rPr>
                  <a:t>     &lt; </a:t>
                </a:r>
                <a:r>
                  <a:rPr lang="en-US" altLang="ko-KR" sz="1800" dirty="0" err="1">
                    <a:latin typeface="+mn-lt"/>
                  </a:rPr>
                  <a:t>Pr</a:t>
                </a:r>
                <a:r>
                  <a:rPr lang="en-US" altLang="ko-KR" sz="1800" dirty="0">
                    <a:latin typeface="+mn-lt"/>
                  </a:rPr>
                  <a:t>[</a:t>
                </a:r>
                <a:r>
                  <a:rPr lang="en-US" altLang="ko-KR" sz="1800" i="1" dirty="0"/>
                  <a:t>V</a:t>
                </a:r>
                <a:r>
                  <a:rPr lang="en-US" altLang="ko-KR" sz="1800" dirty="0"/>
                  <a:t> select nodes with no edge in smallest matching]</a:t>
                </a:r>
                <a:br>
                  <a:rPr lang="en-US" altLang="ko-KR" sz="1800" dirty="0"/>
                </a:br>
                <a:r>
                  <a:rPr lang="en-US" altLang="ko-KR" sz="1800" dirty="0"/>
                  <a:t>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eqArr>
                                  </m:e>
                                </m:d>
                                <m:d>
                                  <m:d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eqArr>
                                  </m:e>
                                </m:d>
                              </m:e>
                            </m:nary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eqArr>
                          </m:e>
                        </m:d>
                      </m:den>
                    </m:f>
                  </m:oMath>
                </a14:m>
                <a:br>
                  <a:rPr lang="en-US" altLang="ko-KR" b="1" dirty="0"/>
                </a:br>
                <a:br>
                  <a:rPr lang="en-US" altLang="ko-KR" b="1" dirty="0"/>
                </a:br>
                <a:r>
                  <a:rPr lang="en-US" altLang="ko-KR" dirty="0"/>
                  <a:t>So, the soundness error is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FB610-47EB-42DF-B4EA-9AA5E12E8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715069"/>
                <a:ext cx="8496944" cy="5522243"/>
              </a:xfrm>
              <a:blipFill>
                <a:blip r:embed="rId3"/>
                <a:stretch>
                  <a:fillRect t="-552" b="-19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D3521B-F96D-4B67-B467-6CD8C69A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316415-C6CC-431B-B354-6593E912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12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575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E3CC9-DDE3-4742-98E0-74690266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02A3C4-E057-4C7F-AF7B-730E4E9A03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:r>
                  <a:rPr lang="en-US" altLang="ko-KR" b="0" dirty="0"/>
                  <a:t>[GMO]</a:t>
                </a:r>
              </a:p>
              <a:p>
                <a:pPr lvl="1"/>
                <a:r>
                  <a:rPr lang="en-US" altLang="ko-KR" b="0" dirty="0"/>
                  <a:t>Prover </a:t>
                </a:r>
                <a:r>
                  <a:rPr lang="en-US" altLang="ko-KR" b="0" i="1" dirty="0"/>
                  <a:t>P </a:t>
                </a:r>
                <a:r>
                  <a:rPr lang="en-US" altLang="ko-KR" b="0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1" dirty="0"/>
                  <a:t> </a:t>
                </a:r>
                <a:r>
                  <a:rPr lang="en-US" altLang="ko-KR" b="0" dirty="0" err="1"/>
                  <a:t>s.t.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  <a:br>
                  <a:rPr lang="en-US" altLang="ko-KR" dirty="0"/>
                </a:br>
                <a:r>
                  <a:rPr lang="en-US" altLang="ko-KR" dirty="0"/>
                  <a:t>(for example,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ko-KR" dirty="0"/>
                  <a:t> is SHA-256)</a:t>
                </a:r>
                <a:br>
                  <a:rPr lang="en-US" altLang="ko-KR" dirty="0"/>
                </a:b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It uses 3-party MPC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dirty="0"/>
                  <a:t> with correctness, 2-privacy, 0-robustness.</a:t>
                </a:r>
                <a:br>
                  <a:rPr lang="en-US" altLang="ko-KR" dirty="0"/>
                </a:br>
                <a:endParaRPr lang="en-US" altLang="ko-KR" dirty="0"/>
              </a:p>
              <a:p>
                <a:pPr lvl="1"/>
                <a:r>
                  <a:rPr lang="en-US" altLang="ko-KR" dirty="0"/>
                  <a:t>Soundness error only needs to be considered in case 2.</a:t>
                </a:r>
                <a:br>
                  <a:rPr lang="en-US" altLang="ko-KR" dirty="0"/>
                </a:br>
                <a:r>
                  <a:rPr lang="en-US" altLang="ko-KR" dirty="0"/>
                  <a:t>So, soundness error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eqArr>
                                  </m:e>
                                </m:d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eqArr>
                                  </m:e>
                                </m:d>
                              </m:e>
                            </m:nary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eqArr>
                          </m:e>
                        </m: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To achieve soundness error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dirty="0"/>
                  <a:t>, repeat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/>
                  <a:t>times.</a:t>
                </a:r>
                <a:br>
                  <a:rPr lang="en-US" altLang="ko-KR" dirty="0"/>
                </a:br>
                <a:br>
                  <a:rPr lang="en-US" altLang="ko-KR" b="1" dirty="0"/>
                </a:br>
                <a:endParaRPr lang="en-US" altLang="ko-KR" b="1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02A3C4-E057-4C7F-AF7B-730E4E9A03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767202-922D-492C-8FF8-603F4639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0C35E9-4D38-44E5-B5FC-019A5487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13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253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A66C5-3B44-4F2A-B826-8340CF4E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38FBBB-04C5-494D-BD6F-14158C64F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908720"/>
                <a:ext cx="5278102" cy="5522243"/>
              </a:xfrm>
            </p:spPr>
            <p:txBody>
              <a:bodyPr/>
              <a:lstStyle/>
              <a:p>
                <a:pPr lvl="1"/>
                <a:r>
                  <a:rPr lang="en-US" altLang="ko-KR" b="1" dirty="0"/>
                  <a:t>(2,3)-decomposition of function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US" altLang="ko-KR" b="1" dirty="0"/>
                  <a:t> </a:t>
                </a:r>
                <a:r>
                  <a:rPr lang="en-US" altLang="ko-KR" dirty="0"/>
                  <a:t>is the set of functions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Share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Output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Output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Output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Rec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nary>
                      <m:naryPr>
                        <m:chr m:val="⋃"/>
                        <m:limLoc m:val="subSup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br>
                  <a:rPr lang="en-US" altLang="ko-KR" b="1" dirty="0"/>
                </a:b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dirty="0"/>
                  <a:t>: intermediate values vector of branch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/>
                  <a:t> called the </a:t>
                </a:r>
                <a:r>
                  <a:rPr lang="en-US" altLang="ko-KR" b="1" dirty="0"/>
                  <a:t>views</a:t>
                </a:r>
                <a:r>
                  <a:rPr lang="en-US" altLang="ko-KR" dirty="0"/>
                  <a:t>. </a:t>
                </a:r>
                <a:br>
                  <a:rPr lang="en-US" altLang="ko-KR" b="1" dirty="0"/>
                </a:br>
                <a:br>
                  <a:rPr lang="en-US" altLang="ko-KR" b="1" dirty="0"/>
                </a:br>
                <a:r>
                  <a:rPr lang="en-US" altLang="ko-KR" dirty="0"/>
                  <a:t>Function</a:t>
                </a:r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b="1" dirty="0"/>
                  <a:t> </a:t>
                </a:r>
                <a:r>
                  <a:rPr lang="en-US" altLang="ko-KR" dirty="0"/>
                  <a:t>takes as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br>
                  <a:rPr lang="en-US" altLang="ko-KR" b="1" dirty="0"/>
                </a:br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38FBBB-04C5-494D-BD6F-14158C64F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08720"/>
                <a:ext cx="5278102" cy="5522243"/>
              </a:xfrm>
              <a:blipFill>
                <a:blip r:embed="rId2"/>
                <a:stretch>
                  <a:fillRect t="-552" r="-20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8E9535-3B52-43DA-851D-0AF072EA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8F8D48-3477-4546-9894-44019775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14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DA47C05-441D-40D8-98BB-F49EA7047D1A}"/>
              </a:ext>
            </a:extLst>
          </p:cNvPr>
          <p:cNvGrpSpPr/>
          <p:nvPr/>
        </p:nvGrpSpPr>
        <p:grpSpPr>
          <a:xfrm>
            <a:off x="5788784" y="908720"/>
            <a:ext cx="3004473" cy="3955231"/>
            <a:chOff x="3344911" y="196599"/>
            <a:chExt cx="5241304" cy="584554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1CF3456-983E-4F28-9072-10C12EC6F4E7}"/>
                </a:ext>
              </a:extLst>
            </p:cNvPr>
            <p:cNvGrpSpPr/>
            <p:nvPr/>
          </p:nvGrpSpPr>
          <p:grpSpPr>
            <a:xfrm>
              <a:off x="3344911" y="196599"/>
              <a:ext cx="5241304" cy="4970974"/>
              <a:chOff x="3217532" y="1091228"/>
              <a:chExt cx="4487282" cy="533277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430CA055-7FDC-45CF-B539-3C52F91A6D74}"/>
                  </a:ext>
                </a:extLst>
              </p:cNvPr>
              <p:cNvGrpSpPr/>
              <p:nvPr/>
            </p:nvGrpSpPr>
            <p:grpSpPr>
              <a:xfrm>
                <a:off x="3217532" y="1091228"/>
                <a:ext cx="4487282" cy="4565974"/>
                <a:chOff x="3165162" y="1230463"/>
                <a:chExt cx="4487282" cy="4565974"/>
              </a:xfrm>
            </p:grpSpPr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EDF4CF09-7FAE-4B4B-A0B1-BEE029656DA0}"/>
                    </a:ext>
                  </a:extLst>
                </p:cNvPr>
                <p:cNvGrpSpPr/>
                <p:nvPr/>
              </p:nvGrpSpPr>
              <p:grpSpPr>
                <a:xfrm>
                  <a:off x="3195904" y="1230463"/>
                  <a:ext cx="4456540" cy="3348209"/>
                  <a:chOff x="3195904" y="1496741"/>
                  <a:chExt cx="4456540" cy="3348209"/>
                </a:xfrm>
              </p:grpSpPr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98BCE0A1-855F-4E92-A73E-019719D9BE24}"/>
                      </a:ext>
                    </a:extLst>
                  </p:cNvPr>
                  <p:cNvSpPr txBox="1"/>
                  <p:nvPr/>
                </p:nvSpPr>
                <p:spPr>
                  <a:xfrm>
                    <a:off x="4885904" y="2281562"/>
                    <a:ext cx="1075464" cy="414781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90000"/>
                        <a:lumOff val="1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100" dirty="0"/>
                      <a:t>Share</a:t>
                    </a:r>
                    <a:endParaRPr lang="ko-KR" altLang="en-US" sz="1100" dirty="0"/>
                  </a:p>
                </p:txBody>
              </p:sp>
              <p:cxnSp>
                <p:nvCxnSpPr>
                  <p:cNvPr id="41" name="직선 화살표 연결선 40">
                    <a:extLst>
                      <a:ext uri="{FF2B5EF4-FFF2-40B4-BE49-F238E27FC236}">
                        <a16:creationId xmlns:a16="http://schemas.microsoft.com/office/drawing/2014/main" id="{73B86A97-0AE2-414F-9727-5B1CDF0F192F}"/>
                      </a:ext>
                    </a:extLst>
                  </p:cNvPr>
                  <p:cNvCxnSpPr>
                    <a:cxnSpLocks/>
                    <a:endCxn id="40" idx="0"/>
                  </p:cNvCxnSpPr>
                  <p:nvPr/>
                </p:nvCxnSpPr>
                <p:spPr bwMode="auto">
                  <a:xfrm flipH="1">
                    <a:off x="5423636" y="1819922"/>
                    <a:ext cx="538" cy="46164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75F76725-24EE-4BCB-BE3D-665D9202E8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08544" y="1496741"/>
                        <a:ext cx="447416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75F76725-24EE-4BCB-BE3D-665D9202E8C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08544" y="1496741"/>
                        <a:ext cx="447416" cy="414781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43" name="직선 화살표 연결선 42">
                    <a:extLst>
                      <a:ext uri="{FF2B5EF4-FFF2-40B4-BE49-F238E27FC236}">
                        <a16:creationId xmlns:a16="http://schemas.microsoft.com/office/drawing/2014/main" id="{0B292DCF-7E98-4305-9326-33986A34E704}"/>
                      </a:ext>
                    </a:extLst>
                  </p:cNvPr>
                  <p:cNvCxnSpPr>
                    <a:cxnSpLocks/>
                    <a:stCxn id="40" idx="2"/>
                  </p:cNvCxnSpPr>
                  <p:nvPr/>
                </p:nvCxnSpPr>
                <p:spPr bwMode="auto">
                  <a:xfrm flipH="1">
                    <a:off x="4012794" y="2696343"/>
                    <a:ext cx="1410843" cy="517375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44" name="직선 화살표 연결선 43">
                    <a:extLst>
                      <a:ext uri="{FF2B5EF4-FFF2-40B4-BE49-F238E27FC236}">
                        <a16:creationId xmlns:a16="http://schemas.microsoft.com/office/drawing/2014/main" id="{A584958A-E8AE-44DD-B7A5-1A03325C97A3}"/>
                      </a:ext>
                    </a:extLst>
                  </p:cNvPr>
                  <p:cNvCxnSpPr>
                    <a:cxnSpLocks/>
                    <a:stCxn id="40" idx="2"/>
                  </p:cNvCxnSpPr>
                  <p:nvPr/>
                </p:nvCxnSpPr>
                <p:spPr bwMode="auto">
                  <a:xfrm>
                    <a:off x="5423636" y="2696343"/>
                    <a:ext cx="4679" cy="517375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45" name="직선 화살표 연결선 44">
                    <a:extLst>
                      <a:ext uri="{FF2B5EF4-FFF2-40B4-BE49-F238E27FC236}">
                        <a16:creationId xmlns:a16="http://schemas.microsoft.com/office/drawing/2014/main" id="{BB975500-E8BF-4371-BD06-B27ADF4D5273}"/>
                      </a:ext>
                    </a:extLst>
                  </p:cNvPr>
                  <p:cNvCxnSpPr>
                    <a:cxnSpLocks/>
                    <a:stCxn id="40" idx="2"/>
                  </p:cNvCxnSpPr>
                  <p:nvPr/>
                </p:nvCxnSpPr>
                <p:spPr bwMode="auto">
                  <a:xfrm>
                    <a:off x="5423636" y="2696343"/>
                    <a:ext cx="1429843" cy="455232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2051B62F-1FF1-46DF-9B08-E1582AE2D7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253306" y="2650891"/>
                        <a:ext cx="531404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2051B62F-1FF1-46DF-9B08-E1582AE2D7D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253306" y="2650891"/>
                        <a:ext cx="531404" cy="41478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TextBox 46">
                        <a:extLst>
                          <a:ext uri="{FF2B5EF4-FFF2-40B4-BE49-F238E27FC236}">
                            <a16:creationId xmlns:a16="http://schemas.microsoft.com/office/drawing/2014/main" id="{20817A85-8B21-4132-9D7A-4D61E5DEE3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93451" y="2702972"/>
                        <a:ext cx="536288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47" name="TextBox 46">
                        <a:extLst>
                          <a:ext uri="{FF2B5EF4-FFF2-40B4-BE49-F238E27FC236}">
                            <a16:creationId xmlns:a16="http://schemas.microsoft.com/office/drawing/2014/main" id="{20817A85-8B21-4132-9D7A-4D61E5DEE37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93451" y="2702972"/>
                        <a:ext cx="536288" cy="41478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5BC5F83C-D335-4CD2-9F22-06D6479965A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2064" y="2584312"/>
                        <a:ext cx="536288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5BC5F83C-D335-4CD2-9F22-06D6479965A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092064" y="2584312"/>
                        <a:ext cx="536288" cy="414781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47EBA879-9F92-4650-B37D-5B4923BF5EA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95904" y="3274953"/>
                        <a:ext cx="1290191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47EBA879-9F92-4650-B37D-5B4923BF5EA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95904" y="3274953"/>
                        <a:ext cx="1290191" cy="414781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6903BB5D-D207-4972-B31F-A8E6AA0D76B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79079" y="3277171"/>
                        <a:ext cx="1290191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6903BB5D-D207-4972-B31F-A8E6AA0D76B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79079" y="3277171"/>
                        <a:ext cx="1290191" cy="41478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TextBox 50">
                        <a:extLst>
                          <a:ext uri="{FF2B5EF4-FFF2-40B4-BE49-F238E27FC236}">
                            <a16:creationId xmlns:a16="http://schemas.microsoft.com/office/drawing/2014/main" id="{CDCFF46E-1286-43D0-94C3-DABF4A6F91B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62253" y="3244334"/>
                        <a:ext cx="1290191" cy="4147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51" name="TextBox 50">
                        <a:extLst>
                          <a:ext uri="{FF2B5EF4-FFF2-40B4-BE49-F238E27FC236}">
                            <a16:creationId xmlns:a16="http://schemas.microsoft.com/office/drawing/2014/main" id="{CDCFF46E-1286-43D0-94C3-DABF4A6F91B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62253" y="3244334"/>
                        <a:ext cx="1290191" cy="414781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2" name="직선 화살표 연결선 51">
                    <a:extLst>
                      <a:ext uri="{FF2B5EF4-FFF2-40B4-BE49-F238E27FC236}">
                        <a16:creationId xmlns:a16="http://schemas.microsoft.com/office/drawing/2014/main" id="{938389AF-7261-499D-BC21-5CC877A1C83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923930" y="3719744"/>
                    <a:ext cx="0" cy="56817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TextBox 52">
                        <a:extLst>
                          <a:ext uri="{FF2B5EF4-FFF2-40B4-BE49-F238E27FC236}">
                            <a16:creationId xmlns:a16="http://schemas.microsoft.com/office/drawing/2014/main" id="{26D30F60-D5E1-4531-B844-87CEDEA5B4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7216" y="4363375"/>
                        <a:ext cx="707324" cy="481575"/>
                      </a:xfrm>
                      <a:prstGeom prst="rect">
                        <a:avLst/>
                      </a:prstGeom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53" name="TextBox 52">
                        <a:extLst>
                          <a:ext uri="{FF2B5EF4-FFF2-40B4-BE49-F238E27FC236}">
                            <a16:creationId xmlns:a16="http://schemas.microsoft.com/office/drawing/2014/main" id="{26D30F60-D5E1-4531-B844-87CEDEA5B4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87216" y="4363375"/>
                        <a:ext cx="707324" cy="48157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4" name="TextBox 53">
                        <a:extLst>
                          <a:ext uri="{FF2B5EF4-FFF2-40B4-BE49-F238E27FC236}">
                            <a16:creationId xmlns:a16="http://schemas.microsoft.com/office/drawing/2014/main" id="{695EF3A8-163B-42F0-8013-48BCAED2C2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104488" y="4352870"/>
                        <a:ext cx="707324" cy="481877"/>
                      </a:xfrm>
                      <a:prstGeom prst="rect">
                        <a:avLst/>
                      </a:prstGeom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54" name="TextBox 53">
                        <a:extLst>
                          <a:ext uri="{FF2B5EF4-FFF2-40B4-BE49-F238E27FC236}">
                            <a16:creationId xmlns:a16="http://schemas.microsoft.com/office/drawing/2014/main" id="{695EF3A8-163B-42F0-8013-48BCAED2C2D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104488" y="4352870"/>
                        <a:ext cx="707324" cy="481877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00FF728E-B81A-4442-A86B-642463AA78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21758" y="4352870"/>
                        <a:ext cx="707324" cy="483200"/>
                      </a:xfrm>
                      <a:prstGeom prst="rect">
                        <a:avLst/>
                      </a:prstGeom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ko-KR" altLang="en-US" sz="1100" dirty="0"/>
                      </a:p>
                    </p:txBody>
                  </p:sp>
                </mc:Choice>
                <mc:Fallback xmlns="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00FF728E-B81A-4442-A86B-642463AA78B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621758" y="4352870"/>
                        <a:ext cx="707324" cy="48320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6" name="직선 화살표 연결선 55">
                    <a:extLst>
                      <a:ext uri="{FF2B5EF4-FFF2-40B4-BE49-F238E27FC236}">
                        <a16:creationId xmlns:a16="http://schemas.microsoft.com/office/drawing/2014/main" id="{DDA8252C-B945-4309-BDAE-C135EA14AE0C}"/>
                      </a:ext>
                    </a:extLst>
                  </p:cNvPr>
                  <p:cNvCxnSpPr>
                    <a:endCxn id="55" idx="0"/>
                  </p:cNvCxnSpPr>
                  <p:nvPr/>
                </p:nvCxnSpPr>
                <p:spPr bwMode="auto">
                  <a:xfrm>
                    <a:off x="3915863" y="3719744"/>
                    <a:ext cx="3059557" cy="633126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57" name="직선 화살표 연결선 56">
                    <a:extLst>
                      <a:ext uri="{FF2B5EF4-FFF2-40B4-BE49-F238E27FC236}">
                        <a16:creationId xmlns:a16="http://schemas.microsoft.com/office/drawing/2014/main" id="{5D2BD5CA-DEB3-49CF-AE9E-EE492111A85B}"/>
                      </a:ext>
                    </a:extLst>
                  </p:cNvPr>
                  <p:cNvCxnSpPr>
                    <a:stCxn id="50" idx="2"/>
                  </p:cNvCxnSpPr>
                  <p:nvPr/>
                </p:nvCxnSpPr>
                <p:spPr bwMode="auto">
                  <a:xfrm flipH="1">
                    <a:off x="4012792" y="3691952"/>
                    <a:ext cx="1411383" cy="595965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58" name="직선 화살표 연결선 57">
                    <a:extLst>
                      <a:ext uri="{FF2B5EF4-FFF2-40B4-BE49-F238E27FC236}">
                        <a16:creationId xmlns:a16="http://schemas.microsoft.com/office/drawing/2014/main" id="{A37ED6FB-090D-4E53-8E3F-5C128168BABF}"/>
                      </a:ext>
                    </a:extLst>
                  </p:cNvPr>
                  <p:cNvCxnSpPr>
                    <a:stCxn id="50" idx="2"/>
                  </p:cNvCxnSpPr>
                  <p:nvPr/>
                </p:nvCxnSpPr>
                <p:spPr bwMode="auto">
                  <a:xfrm>
                    <a:off x="5424175" y="3691952"/>
                    <a:ext cx="0" cy="559343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59" name="직선 화살표 연결선 58">
                    <a:extLst>
                      <a:ext uri="{FF2B5EF4-FFF2-40B4-BE49-F238E27FC236}">
                        <a16:creationId xmlns:a16="http://schemas.microsoft.com/office/drawing/2014/main" id="{33FCA10A-8984-4B91-A10C-667784DF45D0}"/>
                      </a:ext>
                    </a:extLst>
                  </p:cNvPr>
                  <p:cNvCxnSpPr>
                    <a:stCxn id="51" idx="2"/>
                  </p:cNvCxnSpPr>
                  <p:nvPr/>
                </p:nvCxnSpPr>
                <p:spPr bwMode="auto">
                  <a:xfrm flipH="1">
                    <a:off x="5563255" y="3659114"/>
                    <a:ext cx="1444095" cy="62880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60" name="직선 화살표 연결선 59">
                    <a:extLst>
                      <a:ext uri="{FF2B5EF4-FFF2-40B4-BE49-F238E27FC236}">
                        <a16:creationId xmlns:a16="http://schemas.microsoft.com/office/drawing/2014/main" id="{F65D913A-5FB5-408F-8F7F-7E4558A3B242}"/>
                      </a:ext>
                    </a:extLst>
                  </p:cNvPr>
                  <p:cNvCxnSpPr>
                    <a:cxnSpLocks/>
                    <a:stCxn id="51" idx="2"/>
                  </p:cNvCxnSpPr>
                  <p:nvPr/>
                </p:nvCxnSpPr>
                <p:spPr bwMode="auto">
                  <a:xfrm>
                    <a:off x="7007349" y="3659114"/>
                    <a:ext cx="0" cy="62880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</p:grpSp>
            <p:cxnSp>
              <p:nvCxnSpPr>
                <p:cNvPr id="28" name="직선 화살표 연결선 27">
                  <a:extLst>
                    <a:ext uri="{FF2B5EF4-FFF2-40B4-BE49-F238E27FC236}">
                      <a16:creationId xmlns:a16="http://schemas.microsoft.com/office/drawing/2014/main" id="{2C258698-7CAC-4FC2-A60B-E28BFABAF0B2}"/>
                    </a:ext>
                  </a:extLst>
                </p:cNvPr>
                <p:cNvCxnSpPr/>
                <p:nvPr/>
              </p:nvCxnSpPr>
              <p:spPr bwMode="auto">
                <a:xfrm>
                  <a:off x="3911798" y="4671231"/>
                  <a:ext cx="0" cy="568171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F8D55535-6730-4CAA-A40A-035D9B66A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75083" y="5314862"/>
                      <a:ext cx="707324" cy="481575"/>
                    </a:xfrm>
                    <a:prstGeom prst="rect">
                      <a:avLst/>
                    </a:prstGeom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p>
                            </m:sSubSup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F8D55535-6730-4CAA-A40A-035D9B66A5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75083" y="5314862"/>
                      <a:ext cx="707324" cy="48157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0B208F75-BFE3-45CA-BF6D-F9F6F8B2AA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92355" y="5304356"/>
                      <a:ext cx="707324" cy="481877"/>
                    </a:xfrm>
                    <a:prstGeom prst="rect">
                      <a:avLst/>
                    </a:prstGeom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p>
                            </m:sSubSup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0B208F75-BFE3-45CA-BF6D-F9F6F8B2AA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92355" y="5304356"/>
                      <a:ext cx="707324" cy="48187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9AE099EE-2E3A-469E-B97B-5E05DC5AED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9626" y="5304356"/>
                      <a:ext cx="707324" cy="483200"/>
                    </a:xfrm>
                    <a:prstGeom prst="rect">
                      <a:avLst/>
                    </a:prstGeom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p>
                            </m:sSubSup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9AE099EE-2E3A-469E-B97B-5E05DC5AED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9626" y="5304356"/>
                      <a:ext cx="707324" cy="48320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solidFill>
                        <a:schemeClr val="bg2">
                          <a:lumMod val="1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1B1F7B3D-EEF1-4E3C-B571-3C6580F0382F}"/>
                    </a:ext>
                  </a:extLst>
                </p:cNvPr>
                <p:cNvCxnSpPr>
                  <a:endCxn id="31" idx="0"/>
                </p:cNvCxnSpPr>
                <p:nvPr/>
              </p:nvCxnSpPr>
              <p:spPr bwMode="auto">
                <a:xfrm>
                  <a:off x="3903732" y="4671231"/>
                  <a:ext cx="3059556" cy="633124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33" name="직선 화살표 연결선 32">
                  <a:extLst>
                    <a:ext uri="{FF2B5EF4-FFF2-40B4-BE49-F238E27FC236}">
                      <a16:creationId xmlns:a16="http://schemas.microsoft.com/office/drawing/2014/main" id="{AB7BBDBC-2C08-4958-A862-FD31DA54FBAA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00658" y="4597990"/>
                  <a:ext cx="1411384" cy="641412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34" name="직선 화살표 연결선 33">
                  <a:extLst>
                    <a:ext uri="{FF2B5EF4-FFF2-40B4-BE49-F238E27FC236}">
                      <a16:creationId xmlns:a16="http://schemas.microsoft.com/office/drawing/2014/main" id="{2F5F62A6-8E0E-4FFC-AA83-AA44E0321C3A}"/>
                    </a:ext>
                  </a:extLst>
                </p:cNvPr>
                <p:cNvCxnSpPr/>
                <p:nvPr/>
              </p:nvCxnSpPr>
              <p:spPr bwMode="auto">
                <a:xfrm>
                  <a:off x="5412042" y="4597990"/>
                  <a:ext cx="0" cy="604791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3820C3AB-D8CD-4BAB-AAD8-F09156FDC9F6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51121" y="4565153"/>
                  <a:ext cx="1444096" cy="67424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3135DE9D-6754-45AA-AA3A-2625BF79175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995217" y="4565153"/>
                  <a:ext cx="0" cy="67424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직사각형 36">
                      <a:extLst>
                        <a:ext uri="{FF2B5EF4-FFF2-40B4-BE49-F238E27FC236}">
                          <a16:creationId xmlns:a16="http://schemas.microsoft.com/office/drawing/2014/main" id="{C2E40C8D-5EF5-4AF0-9404-673B96DE3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5162" y="4715720"/>
                      <a:ext cx="834309" cy="41478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7" name="직사각형 36">
                      <a:extLst>
                        <a:ext uri="{FF2B5EF4-FFF2-40B4-BE49-F238E27FC236}">
                          <a16:creationId xmlns:a16="http://schemas.microsoft.com/office/drawing/2014/main" id="{C2E40C8D-5EF5-4AF0-9404-673B96DE3F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65162" y="4715720"/>
                      <a:ext cx="834309" cy="414781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직사각형 37">
                      <a:extLst>
                        <a:ext uri="{FF2B5EF4-FFF2-40B4-BE49-F238E27FC236}">
                          <a16:creationId xmlns:a16="http://schemas.microsoft.com/office/drawing/2014/main" id="{827A5721-6A74-4798-8F3E-BB62001522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1990" y="4834538"/>
                      <a:ext cx="839193" cy="41478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8" name="직사각형 37">
                      <a:extLst>
                        <a:ext uri="{FF2B5EF4-FFF2-40B4-BE49-F238E27FC236}">
                          <a16:creationId xmlns:a16="http://schemas.microsoft.com/office/drawing/2014/main" id="{827A5721-6A74-4798-8F3E-BB620015222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1990" y="4834538"/>
                      <a:ext cx="839193" cy="41478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직사각형 38">
                      <a:extLst>
                        <a:ext uri="{FF2B5EF4-FFF2-40B4-BE49-F238E27FC236}">
                          <a16:creationId xmlns:a16="http://schemas.microsoft.com/office/drawing/2014/main" id="{E21E404E-1F87-4BB2-8737-0ED5A8D9E8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4773" y="4690658"/>
                      <a:ext cx="839193" cy="41478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9" name="직사각형 38">
                      <a:extLst>
                        <a:ext uri="{FF2B5EF4-FFF2-40B4-BE49-F238E27FC236}">
                          <a16:creationId xmlns:a16="http://schemas.microsoft.com/office/drawing/2014/main" id="{E21E404E-1F87-4BB2-8737-0ED5A8D9E8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44773" y="4690658"/>
                      <a:ext cx="839193" cy="41478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04296B4A-A669-4284-B30D-48AAB2DC4FEE}"/>
                      </a:ext>
                    </a:extLst>
                  </p:cNvPr>
                  <p:cNvSpPr/>
                  <p:nvPr/>
                </p:nvSpPr>
                <p:spPr>
                  <a:xfrm>
                    <a:off x="3229235" y="6009221"/>
                    <a:ext cx="834309" cy="41478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oMath>
                      </m:oMathPara>
                    </a14:m>
                    <a:endParaRPr lang="ko-KR" altLang="en-US" sz="1100" dirty="0"/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04296B4A-A669-4284-B30D-48AAB2DC4FE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9235" y="6009221"/>
                    <a:ext cx="834309" cy="41478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7D262CE-222E-45C6-87F6-74D3F1E24360}"/>
                      </a:ext>
                    </a:extLst>
                  </p:cNvPr>
                  <p:cNvSpPr/>
                  <p:nvPr/>
                </p:nvSpPr>
                <p:spPr>
                  <a:xfrm>
                    <a:off x="4831449" y="5984161"/>
                    <a:ext cx="839193" cy="41478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oMath>
                      </m:oMathPara>
                    </a14:m>
                    <a:endParaRPr lang="ko-KR" altLang="en-US" sz="1100" dirty="0"/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7D262CE-222E-45C6-87F6-74D3F1E243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1449" y="5984161"/>
                    <a:ext cx="839193" cy="41478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DE93D77A-8861-4A62-A7D0-6E4A0342CFF0}"/>
                      </a:ext>
                    </a:extLst>
                  </p:cNvPr>
                  <p:cNvSpPr/>
                  <p:nvPr/>
                </p:nvSpPr>
                <p:spPr>
                  <a:xfrm>
                    <a:off x="6308848" y="5984161"/>
                    <a:ext cx="839193" cy="41478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oMath>
                      </m:oMathPara>
                    </a14:m>
                    <a:endParaRPr lang="ko-KR" altLang="en-US" sz="1100" dirty="0"/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DE93D77A-8861-4A62-A7D0-6E4A0342CF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8848" y="5984161"/>
                    <a:ext cx="839193" cy="41478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3708323A-B5B1-486B-A595-24497D828C26}"/>
                  </a:ext>
                </a:extLst>
              </p:cNvPr>
              <p:cNvCxnSpPr/>
              <p:nvPr/>
            </p:nvCxnSpPr>
            <p:spPr bwMode="auto">
              <a:xfrm>
                <a:off x="3956102" y="5696712"/>
                <a:ext cx="0" cy="6567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802EA2B6-C52E-44AB-AB75-3E2629AA0371}"/>
                  </a:ext>
                </a:extLst>
              </p:cNvPr>
              <p:cNvCxnSpPr/>
              <p:nvPr/>
            </p:nvCxnSpPr>
            <p:spPr bwMode="auto">
              <a:xfrm>
                <a:off x="5597193" y="5696712"/>
                <a:ext cx="0" cy="6567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F15C7F5B-08EA-44AB-AEFF-C429FE267D48}"/>
                  </a:ext>
                </a:extLst>
              </p:cNvPr>
              <p:cNvCxnSpPr/>
              <p:nvPr/>
            </p:nvCxnSpPr>
            <p:spPr bwMode="auto">
              <a:xfrm>
                <a:off x="7110606" y="5696712"/>
                <a:ext cx="0" cy="6567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9148BD-FF96-47B8-A34C-889A07E8EADC}"/>
                </a:ext>
              </a:extLst>
            </p:cNvPr>
            <p:cNvSpPr txBox="1"/>
            <p:nvPr/>
          </p:nvSpPr>
          <p:spPr>
            <a:xfrm>
              <a:off x="3844557" y="5254934"/>
              <a:ext cx="617454" cy="34494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100" dirty="0"/>
                <a:t>…</a:t>
              </a:r>
              <a:endParaRPr lang="ko-KR" altLang="en-US" sz="11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3BC0CC-47DC-4062-968E-DC54685477A4}"/>
                </a:ext>
              </a:extLst>
            </p:cNvPr>
            <p:cNvSpPr txBox="1"/>
            <p:nvPr/>
          </p:nvSpPr>
          <p:spPr>
            <a:xfrm>
              <a:off x="5779884" y="5254931"/>
              <a:ext cx="617454" cy="34494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100" dirty="0"/>
                <a:t>…</a:t>
              </a:r>
              <a:endParaRPr lang="ko-KR" altLang="en-US" sz="11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D0F9B8-3E05-403A-8A13-98C20C04FDEE}"/>
                </a:ext>
              </a:extLst>
            </p:cNvPr>
            <p:cNvSpPr txBox="1"/>
            <p:nvPr/>
          </p:nvSpPr>
          <p:spPr>
            <a:xfrm>
              <a:off x="7571090" y="5254931"/>
              <a:ext cx="617454" cy="34494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100" dirty="0"/>
                <a:t>…</a:t>
              </a:r>
              <a:endParaRPr lang="ko-KR" altLang="en-US" sz="11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E04B5B-3369-4B60-9B36-EDA9A3753C94}"/>
                </a:ext>
              </a:extLst>
            </p:cNvPr>
            <p:cNvSpPr/>
            <p:nvPr/>
          </p:nvSpPr>
          <p:spPr bwMode="auto">
            <a:xfrm>
              <a:off x="3380819" y="1797086"/>
              <a:ext cx="1498199" cy="378846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2FAF141-64CE-4517-A156-7BE6E04D362B}"/>
                </a:ext>
              </a:extLst>
            </p:cNvPr>
            <p:cNvSpPr/>
            <p:nvPr/>
          </p:nvSpPr>
          <p:spPr bwMode="auto">
            <a:xfrm>
              <a:off x="5225628" y="1803391"/>
              <a:ext cx="1498199" cy="378846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23961DB-4F71-4F5B-B3D7-41FEE6638C32}"/>
                </a:ext>
              </a:extLst>
            </p:cNvPr>
            <p:cNvSpPr/>
            <p:nvPr/>
          </p:nvSpPr>
          <p:spPr bwMode="auto">
            <a:xfrm>
              <a:off x="6978057" y="1806485"/>
              <a:ext cx="1498199" cy="378846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5E17D30-CF0A-44DC-AE5C-30177C43AE2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207586" y="5585553"/>
              <a:ext cx="1" cy="3854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ED6CD725-1F4A-45F5-A32F-8C759828CA5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124440" y="5600835"/>
              <a:ext cx="1" cy="3854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40B69AA9-5A8B-4DF1-8139-7CCC06B1AA2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892159" y="5614495"/>
              <a:ext cx="1" cy="3854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F3C49ABC-B6CC-4A7F-83A6-3CC324DDAC27}"/>
                    </a:ext>
                  </a:extLst>
                </p:cNvPr>
                <p:cNvSpPr/>
                <p:nvPr/>
              </p:nvSpPr>
              <p:spPr>
                <a:xfrm>
                  <a:off x="3671965" y="5655499"/>
                  <a:ext cx="665216" cy="3866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F3C49ABC-B6CC-4A7F-83A6-3CC324DDA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1965" y="5655499"/>
                  <a:ext cx="665216" cy="38664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B7DE1961-F039-4C33-AADC-B73C79606803}"/>
                    </a:ext>
                  </a:extLst>
                </p:cNvPr>
                <p:cNvSpPr/>
                <p:nvPr/>
              </p:nvSpPr>
              <p:spPr>
                <a:xfrm>
                  <a:off x="5543405" y="5632139"/>
                  <a:ext cx="670921" cy="3866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B7DE1961-F039-4C33-AADC-B73C796068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3405" y="5632139"/>
                  <a:ext cx="670921" cy="38664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7A3F0C60-59D0-4A4E-A250-56A9B18E6379}"/>
                    </a:ext>
                  </a:extLst>
                </p:cNvPr>
                <p:cNvSpPr/>
                <p:nvPr/>
              </p:nvSpPr>
              <p:spPr>
                <a:xfrm>
                  <a:off x="7269060" y="5632139"/>
                  <a:ext cx="670921" cy="3866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7A3F0C60-59D0-4A4E-A250-56A9B18E63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9060" y="5632139"/>
                  <a:ext cx="670921" cy="38664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EA4AEE90-7CA1-473A-AA24-0419EAADE462}"/>
              </a:ext>
            </a:extLst>
          </p:cNvPr>
          <p:cNvGrpSpPr/>
          <p:nvPr/>
        </p:nvGrpSpPr>
        <p:grpSpPr>
          <a:xfrm>
            <a:off x="5957740" y="4864566"/>
            <a:ext cx="2715891" cy="1297861"/>
            <a:chOff x="1757981" y="5316385"/>
            <a:chExt cx="2715891" cy="12978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3EBB75F-4471-479B-877E-07D5CAD74762}"/>
                    </a:ext>
                  </a:extLst>
                </p:cNvPr>
                <p:cNvSpPr txBox="1"/>
                <p:nvPr/>
              </p:nvSpPr>
              <p:spPr>
                <a:xfrm>
                  <a:off x="1757981" y="5321304"/>
                  <a:ext cx="730585" cy="261610"/>
                </a:xfrm>
                <a:prstGeom prst="rect">
                  <a:avLst/>
                </a:prstGeom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𝑂𝑢𝑡𝑝𝑢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3EBB75F-4471-479B-877E-07D5CAD74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7981" y="5321304"/>
                  <a:ext cx="730585" cy="2616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38D54C6-CC40-4D62-B54A-BF1D020052C9}"/>
                    </a:ext>
                  </a:extLst>
                </p:cNvPr>
                <p:cNvSpPr txBox="1"/>
                <p:nvPr/>
              </p:nvSpPr>
              <p:spPr>
                <a:xfrm>
                  <a:off x="2748999" y="5316385"/>
                  <a:ext cx="733855" cy="261610"/>
                </a:xfrm>
                <a:prstGeom prst="rect">
                  <a:avLst/>
                </a:prstGeom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𝑂𝑢𝑡𝑝𝑢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38D54C6-CC40-4D62-B54A-BF1D02005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8999" y="5316385"/>
                  <a:ext cx="733855" cy="2616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91E7AAC-F1C0-4425-86C4-CE75B6782523}"/>
                    </a:ext>
                  </a:extLst>
                </p:cNvPr>
                <p:cNvSpPr txBox="1"/>
                <p:nvPr/>
              </p:nvSpPr>
              <p:spPr>
                <a:xfrm>
                  <a:off x="3740017" y="5316385"/>
                  <a:ext cx="733855" cy="261610"/>
                </a:xfrm>
                <a:prstGeom prst="rect">
                  <a:avLst/>
                </a:prstGeom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𝑂𝑢𝑡𝑝𝑢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91E7AAC-F1C0-4425-86C4-CE75B6782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7" y="5316385"/>
                  <a:ext cx="733855" cy="2616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09443B4-7C1F-4E37-95A8-9E201DDD6AF4}"/>
                    </a:ext>
                  </a:extLst>
                </p:cNvPr>
                <p:cNvSpPr txBox="1"/>
                <p:nvPr/>
              </p:nvSpPr>
              <p:spPr>
                <a:xfrm>
                  <a:off x="2888674" y="5941533"/>
                  <a:ext cx="448841" cy="261610"/>
                </a:xfrm>
                <a:prstGeom prst="rect">
                  <a:avLst/>
                </a:prstGeom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𝑅𝑒𝑐</m:t>
                        </m:r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09443B4-7C1F-4E37-95A8-9E201DDD6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674" y="5941533"/>
                  <a:ext cx="448841" cy="2616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solidFill>
                    <a:schemeClr val="bg2">
                      <a:lumMod val="1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0264E96A-C320-45E3-A315-01DCA105C2A9}"/>
                </a:ext>
              </a:extLst>
            </p:cNvPr>
            <p:cNvCxnSpPr>
              <a:stCxn id="81" idx="2"/>
              <a:endCxn id="90" idx="0"/>
            </p:cNvCxnSpPr>
            <p:nvPr/>
          </p:nvCxnSpPr>
          <p:spPr bwMode="auto">
            <a:xfrm>
              <a:off x="2123274" y="5582914"/>
              <a:ext cx="989821" cy="3586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92342352-3633-487A-9AF7-7AB3B9665D85}"/>
                </a:ext>
              </a:extLst>
            </p:cNvPr>
            <p:cNvCxnSpPr>
              <a:cxnSpLocks/>
              <a:stCxn id="82" idx="2"/>
              <a:endCxn id="90" idx="0"/>
            </p:cNvCxnSpPr>
            <p:nvPr/>
          </p:nvCxnSpPr>
          <p:spPr bwMode="auto">
            <a:xfrm flipH="1">
              <a:off x="3113095" y="5577995"/>
              <a:ext cx="2832" cy="3635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1FDE46B-8609-4489-9DA9-EF212F6422B1}"/>
                </a:ext>
              </a:extLst>
            </p:cNvPr>
            <p:cNvCxnSpPr>
              <a:cxnSpLocks/>
              <a:stCxn id="83" idx="2"/>
              <a:endCxn id="90" idx="0"/>
            </p:cNvCxnSpPr>
            <p:nvPr/>
          </p:nvCxnSpPr>
          <p:spPr bwMode="auto">
            <a:xfrm flipH="1">
              <a:off x="3113095" y="5577995"/>
              <a:ext cx="993850" cy="3635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5A1FD55-6B38-4612-A2F6-A1AFCC826C8C}"/>
                    </a:ext>
                  </a:extLst>
                </p:cNvPr>
                <p:cNvSpPr txBox="1"/>
                <p:nvPr/>
              </p:nvSpPr>
              <p:spPr>
                <a:xfrm>
                  <a:off x="2205775" y="5617022"/>
                  <a:ext cx="35606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5A1FD55-6B38-4612-A2F6-A1AFCC826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5775" y="5617022"/>
                  <a:ext cx="356060" cy="2616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2597340-856E-44E8-BEB2-233B5548C661}"/>
                    </a:ext>
                  </a:extLst>
                </p:cNvPr>
                <p:cNvSpPr txBox="1"/>
                <p:nvPr/>
              </p:nvSpPr>
              <p:spPr>
                <a:xfrm>
                  <a:off x="2850594" y="5593010"/>
                  <a:ext cx="35932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2597340-856E-44E8-BEB2-233B5548C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594" y="5593010"/>
                  <a:ext cx="359329" cy="2616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2F81E60-93F3-49AB-80FA-8161DDBF8995}"/>
                    </a:ext>
                  </a:extLst>
                </p:cNvPr>
                <p:cNvSpPr txBox="1"/>
                <p:nvPr/>
              </p:nvSpPr>
              <p:spPr>
                <a:xfrm>
                  <a:off x="3681080" y="5643620"/>
                  <a:ext cx="35932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2F81E60-93F3-49AB-80FA-8161DDBF89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080" y="5643620"/>
                  <a:ext cx="359329" cy="2616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1ADD9138-64B9-4BC3-B8DD-9C67651FA121}"/>
                </a:ext>
              </a:extLst>
            </p:cNvPr>
            <p:cNvCxnSpPr>
              <a:cxnSpLocks/>
              <a:stCxn id="90" idx="2"/>
              <a:endCxn id="98" idx="0"/>
            </p:cNvCxnSpPr>
            <p:nvPr/>
          </p:nvCxnSpPr>
          <p:spPr bwMode="auto">
            <a:xfrm flipH="1">
              <a:off x="3113094" y="6203143"/>
              <a:ext cx="1" cy="1494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1A1F231-7748-4880-BAA4-FE2BA968A024}"/>
                    </a:ext>
                  </a:extLst>
                </p:cNvPr>
                <p:cNvSpPr txBox="1"/>
                <p:nvPr/>
              </p:nvSpPr>
              <p:spPr>
                <a:xfrm>
                  <a:off x="2962636" y="6352636"/>
                  <a:ext cx="30091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ko-KR" altLang="en-US" sz="11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1A1F231-7748-4880-BAA4-FE2BA968A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636" y="6352636"/>
                  <a:ext cx="300916" cy="2616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1166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B9D09-6A14-481D-8D05-FBC53534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D6709B9-9634-46A6-B678-613221001F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908720"/>
                <a:ext cx="8496944" cy="5522243"/>
              </a:xfrm>
            </p:spPr>
            <p:txBody>
              <a:bodyPr/>
              <a:lstStyle/>
              <a:p>
                <a:pPr lvl="1"/>
                <a:r>
                  <a:rPr lang="en-US" altLang="ko-KR" b="1" dirty="0"/>
                  <a:t>protocol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dirty="0"/>
                </a:br>
                <a:br>
                  <a:rPr lang="en-US" altLang="ko-KR" sz="1200" dirty="0"/>
                </a:br>
                <a:br>
                  <a:rPr lang="en-US" altLang="ko-KR" sz="1200" dirty="0"/>
                </a:br>
                <a:r>
                  <a:rPr lang="en-US" altLang="ko-KR" dirty="0"/>
                  <a:t>(2,3)-decomposition is</a:t>
                </a:r>
                <a:r>
                  <a:rPr lang="en-US" altLang="ko-KR" b="1" dirty="0"/>
                  <a:t> Correct</a:t>
                </a:r>
                <a:r>
                  <a:rPr lang="en-US" altLang="ko-KR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altLang="ko-KR" dirty="0"/>
                </a:br>
                <a:r>
                  <a:rPr lang="en-US" altLang="ko-KR" dirty="0"/>
                  <a:t>(2,3)-decomposition has</a:t>
                </a:r>
                <a:r>
                  <a:rPr lang="en-US" altLang="ko-KR" b="1" dirty="0"/>
                  <a:t> Privacy</a:t>
                </a:r>
                <a:r>
                  <a:rPr lang="en-US" altLang="ko-KR" dirty="0"/>
                  <a:t> if there exists a PPT simulator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have the same distribution.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D6709B9-9634-46A6-B678-613221001F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08720"/>
                <a:ext cx="8496944" cy="5522243"/>
              </a:xfrm>
              <a:blipFill>
                <a:blip r:embed="rId3"/>
                <a:stretch>
                  <a:fillRect t="-552" b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8C138C-62C6-49C8-A8E9-DC15F942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4A6DED-BA78-4FCE-B184-F66A5DB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15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6245A6-B7C9-41B9-B906-F8A41AD87C7E}"/>
                  </a:ext>
                </a:extLst>
              </p:cNvPr>
              <p:cNvSpPr txBox="1"/>
              <p:nvPr/>
            </p:nvSpPr>
            <p:spPr>
              <a:xfrm>
                <a:off x="1187624" y="1412776"/>
                <a:ext cx="6563072" cy="3907929"/>
              </a:xfrm>
              <a:prstGeom prst="rect">
                <a:avLst/>
              </a:prstGeom>
              <a:noFill/>
              <a:ln w="12700">
                <a:solidFill>
                  <a:schemeClr val="accent4">
                    <a:lumMod val="90000"/>
                    <a:lumOff val="1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Let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600" dirty="0"/>
                  <a:t> be a function and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dirty="0"/>
                  <a:t> a related (2,3)-decomposition</a:t>
                </a:r>
              </a:p>
              <a:p>
                <a:endParaRPr lang="en-US" altLang="ko-KR" sz="1600" dirty="0"/>
              </a:p>
              <a:p>
                <a:r>
                  <a:rPr lang="en-US" altLang="ko-KR" sz="1600" dirty="0"/>
                  <a:t>INPUT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ko-KR" sz="1600" dirty="0"/>
              </a:p>
              <a:p>
                <a:pPr marL="342900" indent="-342900">
                  <a:buAutoNum type="arabicPeriod"/>
                </a:pPr>
                <a:endParaRPr lang="en-US" altLang="ko-KR" sz="1600" dirty="0"/>
              </a:p>
              <a:p>
                <a:pPr marL="342900" indent="-342900">
                  <a:buAutoNum type="arabicPeriod"/>
                </a:pPr>
                <a:r>
                  <a:rPr lang="en-US" altLang="ko-KR" sz="16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;</a:t>
                </a:r>
              </a:p>
              <a:p>
                <a:pPr marL="342900" indent="-342900">
                  <a:buAutoNum type="arabicPeriod"/>
                </a:pPr>
                <a:r>
                  <a:rPr lang="en-US" altLang="ko-KR" sz="1600" dirty="0"/>
                  <a:t>Compute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Share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;</a:t>
                </a:r>
              </a:p>
              <a:p>
                <a:pPr marL="342900" indent="-342900">
                  <a:buAutoNum type="arabicPeriod"/>
                </a:pPr>
                <a:r>
                  <a:rPr lang="en-US" altLang="ko-KR" sz="16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 be vectors with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600" dirty="0"/>
                  <a:t> entries;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 i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</a:rPr>
                  <a:t>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en-US" altLang="ko-KR" sz="1600" b="0" dirty="0"/>
                  <a:t>,</a:t>
                </a:r>
                <a:r>
                  <a:rPr lang="en-US" altLang="ko-KR" sz="1600" b="0" i="1" dirty="0"/>
                  <a:t> </a:t>
                </a:r>
                <a:r>
                  <a:rPr lang="en-US" altLang="ko-KR" sz="1600" b="0" dirty="0"/>
                  <a:t>Compute</a:t>
                </a:r>
                <a:br>
                  <a:rPr lang="en-US" altLang="ko-KR" sz="16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  <m:t>0…</m:t>
                                    </m:r>
                                    <m: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600" i="1" dirty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600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altLang="ko-KR" sz="1600" dirty="0"/>
                  <a:t>;</a:t>
                </a:r>
              </a:p>
              <a:p>
                <a:pPr marL="342900" indent="-342900">
                  <a:buAutoNum type="arabicPeriod"/>
                </a:pPr>
                <a:r>
                  <a:rPr lang="en-US" altLang="ko-KR" sz="16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600" i="0">
                        <a:latin typeface="Cambria Math" panose="02040503050406030204" pitchFamily="18" charset="0"/>
                      </a:rPr>
                      <m:t>Outpu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 i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∈{1,2,3}</m:t>
                    </m:r>
                  </m:oMath>
                </a14:m>
                <a:r>
                  <a:rPr lang="en-US" altLang="ko-KR" sz="1600" dirty="0"/>
                  <a:t>;</a:t>
                </a:r>
              </a:p>
              <a:p>
                <a:pPr marL="342900" indent="-342900">
                  <a:buAutoNum type="arabicPeriod"/>
                </a:pPr>
                <a:r>
                  <a:rPr lang="en-US" altLang="ko-KR" sz="1600" dirty="0"/>
                  <a:t>Compute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600" i="0">
                        <a:latin typeface="Cambria Math" panose="02040503050406030204" pitchFamily="18" charset="0"/>
                      </a:rPr>
                      <m:t>Rec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;</a:t>
                </a:r>
              </a:p>
              <a:p>
                <a:pPr marL="342900" indent="-342900">
                  <a:buAutoNum type="arabicPeriod"/>
                </a:pPr>
                <a:endParaRPr lang="en-US" altLang="ko-KR" sz="1600" dirty="0"/>
              </a:p>
              <a:p>
                <a:r>
                  <a:rPr lang="en-US" altLang="ko-KR" sz="1600" dirty="0"/>
                  <a:t>OUTPUT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6245A6-B7C9-41B9-B906-F8A41AD8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412776"/>
                <a:ext cx="6563072" cy="3907929"/>
              </a:xfrm>
              <a:prstGeom prst="rect">
                <a:avLst/>
              </a:prstGeom>
              <a:blipFill>
                <a:blip r:embed="rId4"/>
                <a:stretch>
                  <a:fillRect l="-464" t="-311" b="-933"/>
                </a:stretch>
              </a:blipFill>
              <a:ln w="12700">
                <a:solidFill>
                  <a:schemeClr val="accent4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8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AE6F9-DDA7-4AE8-A15F-034C8FAE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923D6-25DB-4659-A05E-D8B710FD1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787077"/>
                <a:ext cx="8496944" cy="5522243"/>
              </a:xfrm>
            </p:spPr>
            <p:txBody>
              <a:bodyPr/>
              <a:lstStyle/>
              <a:p>
                <a:pPr marL="457200" lvl="1" indent="0">
                  <a:buNone/>
                </a:pPr>
                <a:r>
                  <a:rPr lang="en-US" altLang="ko-KR" dirty="0"/>
                  <a:t>How to construct a (2,3)-decomposition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?</a:t>
                </a:r>
                <a:endParaRPr lang="en-US" altLang="ko-KR" b="1" dirty="0"/>
              </a:p>
              <a:p>
                <a:pPr lvl="1"/>
                <a:r>
                  <a:rPr lang="en-US" altLang="ko-KR" b="1" dirty="0"/>
                  <a:t>Linear Decomposition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ko-KR" sz="1600" b="1" dirty="0"/>
                  <a:t> </a:t>
                </a:r>
                <a:r>
                  <a:rPr lang="en-US" altLang="ko-KR" sz="1600" dirty="0"/>
                  <a:t>can be expressed by 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600" dirty="0"/>
                  <a:t> arithmetic circuits using addition by constant, multiplication by constant, binary addition and binary multiplication gates</a:t>
                </a:r>
                <a:endParaRPr lang="en-US" altLang="ko-KR" sz="1600" b="1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Share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samples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;</a:t>
                </a:r>
              </a:p>
              <a:p>
                <a:pPr lvl="2"/>
                <a:r>
                  <a:rPr lang="en-US" altLang="ko-KR" dirty="0"/>
                  <a:t>The family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r>
                  <a:rPr lang="en-US" altLang="ko-KR" dirty="0"/>
                  <a:t> </a:t>
                </a:r>
              </a:p>
              <a:p>
                <a:pPr lvl="3"/>
                <a:r>
                  <a:rPr lang="en-US" altLang="ko-KR" b="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dirty="0"/>
                  <a:t> is a unary “add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” gate;</a:t>
                </a:r>
                <a:br>
                  <a:rPr lang="en-US" altLang="ko-KR" dirty="0"/>
                </a:br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else</m:t>
                            </m:r>
                          </m:e>
                        </m:eqArr>
                      </m:e>
                    </m:d>
                  </m:oMath>
                </a14:m>
                <a:endParaRPr lang="en-US" altLang="ko-KR" b="0" dirty="0"/>
              </a:p>
              <a:p>
                <a:pPr lvl="3"/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dirty="0"/>
                  <a:t> is a unary “</a:t>
                </a:r>
                <a:r>
                  <a:rPr lang="en-US" altLang="ko-KR" dirty="0" err="1"/>
                  <a:t>mult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” gate;</a:t>
                </a:r>
                <a:br>
                  <a:rPr lang="en-US" altLang="ko-KR" dirty="0"/>
                </a:br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:pPr lvl="3"/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dirty="0"/>
                  <a:t> is a binary addition gate;</a:t>
                </a:r>
                <a:br>
                  <a:rPr lang="en-US" altLang="ko-KR" dirty="0"/>
                </a:b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3"/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dirty="0"/>
                  <a:t> is a binary </a:t>
                </a:r>
                <a:r>
                  <a:rPr lang="en-US" altLang="ko-KR" dirty="0" err="1"/>
                  <a:t>mult</a:t>
                </a:r>
                <a:r>
                  <a:rPr lang="en-US" altLang="ko-KR" dirty="0"/>
                  <a:t>. gate;</a:t>
                </a:r>
                <a:br>
                  <a:rPr lang="en-US" altLang="ko-KR" dirty="0"/>
                </a:b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br>
                  <a:rPr lang="en-US" altLang="ko-KR" b="0" dirty="0"/>
                </a:br>
                <a:r>
                  <a:rPr lang="en-US" altLang="ko-KR" b="0" dirty="0"/>
                  <a:t>	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Output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p>
                    </m:sSub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selects the output wires of the circuit;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Rec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/>
                  <a:t> outputs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;</a:t>
                </a:r>
              </a:p>
              <a:p>
                <a:pPr lvl="2"/>
                <a:endParaRPr lang="en-US" altLang="ko-KR" dirty="0"/>
              </a:p>
              <a:p>
                <a:pPr lvl="1"/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923D6-25DB-4659-A05E-D8B710FD1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787077"/>
                <a:ext cx="8496944" cy="5522243"/>
              </a:xfrm>
              <a:blipFill>
                <a:blip r:embed="rId2"/>
                <a:stretch>
                  <a:fillRect t="-442" r="-215" b="-49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95FFD4-29FF-432C-AB58-12F67CD3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3914AC-7C0B-4AB6-9C56-B9893415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16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725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DA433-E55D-4E9B-BBD5-6D0B73DD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0B99FDD-3B0C-4716-830D-BB9A7AD43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b="1" dirty="0"/>
                  <a:t>[GMO] Proposition 4.1.</a:t>
                </a:r>
                <a:br>
                  <a:rPr lang="en-US" altLang="ko-KR" b="1" dirty="0"/>
                </a:br>
                <a:r>
                  <a:rPr lang="en-US" altLang="ko-KR" dirty="0"/>
                  <a:t>Linear Decomposition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p>
                    </m:sSup>
                  </m:oMath>
                </a14:m>
                <a:r>
                  <a:rPr lang="en-US" altLang="ko-KR" dirty="0"/>
                  <a:t>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dirty="0"/>
                  <a:t> have correctness, 2-privacy.</a:t>
                </a:r>
                <a:br>
                  <a:rPr lang="en-US" altLang="ko-KR" dirty="0"/>
                </a:br>
                <a:r>
                  <a:rPr lang="en-US" altLang="ko-KR" dirty="0"/>
                  <a:t>Moreover, the length of each views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bits where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/>
                  <a:t> is the number of multiplication gates.</a:t>
                </a:r>
              </a:p>
              <a:p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0B99FDD-3B0C-4716-830D-BB9A7AD43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4BBBAD-A29D-4AB2-B9F0-6DFCD6FB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D424C4-0B8D-4D64-9E2B-8DD97888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17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02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:r>
                  <a:rPr lang="en-US" altLang="ko-KR" b="0" dirty="0"/>
                  <a:t>[GMO]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18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5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3261891"/>
                <a:ext cx="5372854" cy="1842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400" dirty="0"/>
                  <a:t>) 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/>
                  <a:t> and the output shares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.</a:t>
                </a: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Send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3261891"/>
                <a:ext cx="5372854" cy="1842940"/>
              </a:xfrm>
              <a:prstGeom prst="rect">
                <a:avLst/>
              </a:prstGeom>
              <a:blipFill>
                <a:blip r:embed="rId6"/>
                <a:stretch>
                  <a:fillRect l="-340" t="-662" b="-29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6F1D15-461D-44BF-AB17-87AEF60DE0CD}"/>
              </a:ext>
            </a:extLst>
          </p:cNvPr>
          <p:cNvCxnSpPr/>
          <p:nvPr/>
        </p:nvCxnSpPr>
        <p:spPr bwMode="auto">
          <a:xfrm>
            <a:off x="1763688" y="5157192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83800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:r>
                  <a:rPr lang="en-US" altLang="ko-KR" b="0" dirty="0"/>
                  <a:t>[GMO]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19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5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91D73756-0D14-4AD5-A8F3-E353707FE548}"/>
              </a:ext>
            </a:extLst>
          </p:cNvPr>
          <p:cNvSpPr txBox="1">
            <a:spLocks/>
          </p:cNvSpPr>
          <p:nvPr/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굴림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19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/>
              <p:nvPr/>
            </p:nvSpPr>
            <p:spPr>
              <a:xfrm>
                <a:off x="1802553" y="3615193"/>
                <a:ext cx="417614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Compute the challenge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Open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thus revealing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553" y="3615193"/>
                <a:ext cx="4176143" cy="954107"/>
              </a:xfrm>
              <a:prstGeom prst="rect">
                <a:avLst/>
              </a:prstGeom>
              <a:blipFill>
                <a:blip r:embed="rId6"/>
                <a:stretch>
                  <a:fillRect l="-438" t="-1274" b="-5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52040E8-7C0F-4DAA-AEC3-3C6AEDEEF960}"/>
              </a:ext>
            </a:extLst>
          </p:cNvPr>
          <p:cNvCxnSpPr/>
          <p:nvPr/>
        </p:nvCxnSpPr>
        <p:spPr bwMode="auto">
          <a:xfrm>
            <a:off x="1835696" y="4797152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92034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:r>
                  <a:rPr lang="en-US" altLang="ko-KR" b="0" dirty="0"/>
                  <a:t>[GMO]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20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6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91D73756-0D14-4AD5-A8F3-E353707FE548}"/>
              </a:ext>
            </a:extLst>
          </p:cNvPr>
          <p:cNvSpPr txBox="1">
            <a:spLocks/>
          </p:cNvSpPr>
          <p:nvPr/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굴림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20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959D-3C86-4EE9-9DBD-F467F69A6B6A}"/>
                  </a:ext>
                </a:extLst>
              </p:cNvPr>
              <p:cNvSpPr txBox="1"/>
              <p:nvPr/>
            </p:nvSpPr>
            <p:spPr>
              <a:xfrm>
                <a:off x="1882869" y="3012989"/>
                <a:ext cx="5012814" cy="251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Compute the challenge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Open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Open</m:t>
                    </m:r>
                    <m:d>
                      <m:d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Rec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REJECT.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′+1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Output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>
                        <m:d>
                          <m:d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′+1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REJECT</a:t>
                </a:r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Else, ACCEPT</a:t>
                </a:r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959D-3C86-4EE9-9DBD-F467F69A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869" y="3012989"/>
                <a:ext cx="5012814" cy="2510111"/>
              </a:xfrm>
              <a:prstGeom prst="rect">
                <a:avLst/>
              </a:prstGeom>
              <a:blipFill>
                <a:blip r:embed="rId7"/>
                <a:stretch>
                  <a:fillRect t="-243" r="-365" b="-1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24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80509-A3B1-4F5D-A988-51AB5922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ZKBoo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135FFE-7DD1-4A3C-B5D3-5505C643B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dirty="0"/>
                  <a:t>Proof size : </a:t>
                </a:r>
                <a:br>
                  <a:rPr lang="en-US" altLang="ko-KR" dirty="0"/>
                </a:br>
                <a:r>
                  <a:rPr lang="en-US" altLang="ko-KR" dirty="0"/>
                  <a:t>To achieve soundness error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dirty="0"/>
                  <a:t>, we must repeat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/>
                  <a:t> times.</a:t>
                </a:r>
                <a:br>
                  <a:rPr lang="en-US" altLang="ko-KR" dirty="0"/>
                </a:br>
                <a:r>
                  <a:rPr lang="en-US" altLang="ko-KR" dirty="0"/>
                  <a:t>Assume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en-US" altLang="ko-KR" dirty="0"/>
                </a:br>
                <a:br>
                  <a:rPr lang="en-US" altLang="ko-KR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b="0" dirty="0"/>
                  <a:t> </a:t>
                </a:r>
                <a:br>
                  <a:rPr lang="en-US" altLang="ko-KR" b="0" dirty="0"/>
                </a:br>
                <a:r>
                  <a:rPr lang="en-US" altLang="ko-KR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ko-KR" b="0" dirty="0"/>
                  <a:t> </a:t>
                </a:r>
                <a:br>
                  <a:rPr lang="en-US" altLang="ko-KR" b="0" dirty="0"/>
                </a:br>
                <a:r>
                  <a:rPr lang="en-US" altLang="ko-KR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135FFE-7DD1-4A3C-B5D3-5505C643B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EFCD22-0B7E-4A61-8A5E-D4840B9B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7D6E86-7345-42FB-AD8A-BCE3BDC5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21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38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ZKB++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3" t="-16129" b="-35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22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blipFill>
                <a:blip r:embed="rId6"/>
                <a:stretch>
                  <a:fillRect l="-194" b="-4211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400" dirty="0"/>
                  <a:t>) 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/>
                  <a:t> and the output shares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400" dirty="0"/>
                  <a:t> send</a:t>
                </a:r>
                <a14:m>
                  <m:oMath xmlns:m="http://schemas.openxmlformats.org/officeDocument/2006/math"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blipFill>
                <a:blip r:embed="rId7"/>
                <a:stretch>
                  <a:fillRect l="-302" t="-7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설명선: 굽은 선 11">
                <a:extLst>
                  <a:ext uri="{FF2B5EF4-FFF2-40B4-BE49-F238E27FC236}">
                    <a16:creationId xmlns:a16="http://schemas.microsoft.com/office/drawing/2014/main" id="{8C218CB5-EBEF-4A2D-8E9C-8D158A315D17}"/>
                  </a:ext>
                </a:extLst>
              </p:cNvPr>
              <p:cNvSpPr/>
              <p:nvPr/>
            </p:nvSpPr>
            <p:spPr bwMode="auto">
              <a:xfrm>
                <a:off x="4355976" y="1424772"/>
                <a:ext cx="4330824" cy="2674891"/>
              </a:xfrm>
              <a:prstGeom prst="borderCallout2">
                <a:avLst>
                  <a:gd name="adj1" fmla="val 47019"/>
                  <a:gd name="adj2" fmla="val -4992"/>
                  <a:gd name="adj3" fmla="val 47019"/>
                  <a:gd name="adj4" fmla="val -12499"/>
                  <a:gd name="adj5" fmla="val 106191"/>
                  <a:gd name="adj6" fmla="val -23755"/>
                </a:avLst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dirty="0"/>
                  <a:t>ZKB++: The share function</a:t>
                </a:r>
              </a:p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5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 sz="1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Share</m:t>
                    </m:r>
                    <m:d>
                      <m:d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5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altLang="ko-KR" sz="1500" b="0" i="1" dirty="0">
                    <a:latin typeface="Cambria Math" panose="02040503050406030204" pitchFamily="18" charset="0"/>
                  </a:rPr>
                </a:br>
                <a:r>
                  <a:rPr lang="en-US" altLang="ko-KR" sz="15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500" b="0" dirty="0">
                    <a:latin typeface="Arial" charset="0"/>
                  </a:rPr>
                </a:br>
                <a:r>
                  <a:rPr lang="en-US" altLang="ko-KR" sz="1500" b="0" dirty="0">
                    <a:latin typeface="Arial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500" b="0" dirty="0">
                    <a:latin typeface="Arial" charset="0"/>
                  </a:rPr>
                </a:br>
                <a:r>
                  <a:rPr lang="en-US" altLang="ko-KR" sz="1500" b="0" dirty="0">
                    <a:latin typeface="Arial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altLang="ko-KR" sz="1500" b="0" dirty="0">
                    <a:latin typeface="Arial" charset="0"/>
                  </a:rPr>
                </a:br>
                <a:r>
                  <a:rPr lang="en-US" altLang="ko-KR" sz="1500" b="0" dirty="0"/>
                  <a:t>where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500" b="0" dirty="0">
                    <a:latin typeface="Arial" charset="0"/>
                  </a:rPr>
                  <a:t> </a:t>
                </a:r>
                <a:r>
                  <a:rPr lang="en-US" altLang="ko-KR" sz="1500" dirty="0"/>
                  <a:t>: random number generator</a:t>
                </a:r>
                <a:endParaRPr lang="en-US" altLang="ko-KR" sz="1500" b="0" dirty="0">
                  <a:latin typeface="Arial" charset="0"/>
                </a:endParaRPr>
              </a:p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ko-KR" sz="1500" dirty="0"/>
              </a:p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500" b="0" dirty="0"/>
                  <a:t> is computed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altLang="ko-KR" sz="1500" b="0" dirty="0"/>
                </a:br>
                <a:r>
                  <a:rPr lang="en-US" altLang="ko-KR" sz="1500" b="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500" b="0" dirty="0"/>
                  <a:t> do not need to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500" b="0" dirty="0"/>
                  <a:t>.</a:t>
                </a:r>
              </a:p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dirty="0"/>
                  <a:t>In proof, the input share size :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500" dirty="0"/>
                  <a:t> bits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15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5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500" dirty="0"/>
                  <a:t>bits</a:t>
                </a:r>
              </a:p>
            </p:txBody>
          </p:sp>
        </mc:Choice>
        <mc:Fallback xmlns="">
          <p:sp>
            <p:nvSpPr>
              <p:cNvPr id="12" name="설명선: 굽은 선 11">
                <a:extLst>
                  <a:ext uri="{FF2B5EF4-FFF2-40B4-BE49-F238E27FC236}">
                    <a16:creationId xmlns:a16="http://schemas.microsoft.com/office/drawing/2014/main" id="{8C218CB5-EBEF-4A2D-8E9C-8D158A315D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5976" y="1424772"/>
                <a:ext cx="4330824" cy="2674891"/>
              </a:xfrm>
              <a:prstGeom prst="borderCallout2">
                <a:avLst>
                  <a:gd name="adj1" fmla="val 47019"/>
                  <a:gd name="adj2" fmla="val -4992"/>
                  <a:gd name="adj3" fmla="val 47019"/>
                  <a:gd name="adj4" fmla="val -12499"/>
                  <a:gd name="adj5" fmla="val 106191"/>
                  <a:gd name="adj6" fmla="val -23755"/>
                </a:avLst>
              </a:prstGeom>
              <a:blipFill>
                <a:blip r:embed="rId8"/>
                <a:stretch>
                  <a:fillRect t="-42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AD35CA3-622B-432C-869B-9AE48B21BEB0}"/>
              </a:ext>
            </a:extLst>
          </p:cNvPr>
          <p:cNvCxnSpPr>
            <a:cxnSpLocks/>
          </p:cNvCxnSpPr>
          <p:nvPr/>
        </p:nvCxnSpPr>
        <p:spPr bwMode="auto">
          <a:xfrm>
            <a:off x="1835696" y="5373216"/>
            <a:ext cx="525658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1625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ZKB++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3" t="-16129" b="-35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23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blipFill>
                <a:blip r:embed="rId6"/>
                <a:stretch>
                  <a:fillRect l="-194" b="-4211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400" dirty="0"/>
                  <a:t>) 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/>
                  <a:t> and the output shares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400" dirty="0"/>
                  <a:t> send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blipFill>
                <a:blip r:embed="rId7"/>
                <a:stretch>
                  <a:fillRect l="-302" t="-7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9741C54-36AC-4BDC-BD1E-F8D94C2293A7}"/>
              </a:ext>
            </a:extLst>
          </p:cNvPr>
          <p:cNvCxnSpPr>
            <a:cxnSpLocks/>
          </p:cNvCxnSpPr>
          <p:nvPr/>
        </p:nvCxnSpPr>
        <p:spPr bwMode="auto">
          <a:xfrm>
            <a:off x="1835696" y="5373216"/>
            <a:ext cx="525658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설명선: 굽은 선 13">
                <a:extLst>
                  <a:ext uri="{FF2B5EF4-FFF2-40B4-BE49-F238E27FC236}">
                    <a16:creationId xmlns:a16="http://schemas.microsoft.com/office/drawing/2014/main" id="{AFAEDC04-85F9-4375-8DCE-A97A1660FD07}"/>
                  </a:ext>
                </a:extLst>
              </p:cNvPr>
              <p:cNvSpPr/>
              <p:nvPr/>
            </p:nvSpPr>
            <p:spPr bwMode="auto">
              <a:xfrm>
                <a:off x="1227576" y="5280986"/>
                <a:ext cx="3078104" cy="1510014"/>
              </a:xfrm>
              <a:prstGeom prst="borderCallout2">
                <a:avLst>
                  <a:gd name="adj1" fmla="val -2539"/>
                  <a:gd name="adj2" fmla="val 138008"/>
                  <a:gd name="adj3" fmla="val 49178"/>
                  <a:gd name="adj4" fmla="val 138143"/>
                  <a:gd name="adj5" fmla="val 52894"/>
                  <a:gd name="adj6" fmla="val 99036"/>
                </a:avLst>
              </a:prstGeom>
              <a:solidFill>
                <a:schemeClr val="bg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dirty="0"/>
                  <a:t>Instead of</a:t>
                </a:r>
                <a:r>
                  <a:rPr kumimoji="0" lang="en-US" altLang="ko-KR" sz="15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sending 3 commitment</a:t>
                </a:r>
                <a:r>
                  <a:rPr kumimoji="0" lang="en-US" altLang="ko-KR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,</a:t>
                </a:r>
                <a:r>
                  <a:rPr lang="ko-KR" altLang="en-US" sz="1500" dirty="0">
                    <a:latin typeface="Arial" charset="0"/>
                  </a:rPr>
                  <a:t> </a:t>
                </a:r>
                <a:r>
                  <a:rPr lang="en-US" altLang="ko-KR" sz="1500" dirty="0"/>
                  <a:t>send only a non-</a:t>
                </a:r>
                <a:r>
                  <a:rPr lang="en-US" altLang="ko-KR" sz="1500" dirty="0" err="1"/>
                  <a:t>opend</a:t>
                </a:r>
                <a:r>
                  <a:rPr lang="en-US" altLang="ko-KR" sz="1500" dirty="0"/>
                  <a:t> view`s commitment.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ko-KR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dirty="0"/>
                  <a:t>In proof, 3 commitment included </a:t>
                </a:r>
                <a:br>
                  <a:rPr lang="en-US" altLang="ko-KR" sz="1500" dirty="0"/>
                </a:b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0" lang="en-US" altLang="ko-KR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1 commitment</a:t>
                </a:r>
                <a:r>
                  <a:rPr kumimoji="0" lang="en-US" altLang="ko-KR" sz="15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included.</a:t>
                </a:r>
                <a:endParaRPr kumimoji="0" lang="ko-KR" altLang="en-US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설명선: 굽은 선 13">
                <a:extLst>
                  <a:ext uri="{FF2B5EF4-FFF2-40B4-BE49-F238E27FC236}">
                    <a16:creationId xmlns:a16="http://schemas.microsoft.com/office/drawing/2014/main" id="{AFAEDC04-85F9-4375-8DCE-A97A1660FD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7576" y="5280986"/>
                <a:ext cx="3078104" cy="1510014"/>
              </a:xfrm>
              <a:prstGeom prst="borderCallout2">
                <a:avLst>
                  <a:gd name="adj1" fmla="val -2539"/>
                  <a:gd name="adj2" fmla="val 138008"/>
                  <a:gd name="adj3" fmla="val 49178"/>
                  <a:gd name="adj4" fmla="val 138143"/>
                  <a:gd name="adj5" fmla="val 52894"/>
                  <a:gd name="adj6" fmla="val 99036"/>
                </a:avLst>
              </a:prstGeom>
              <a:blipFill>
                <a:blip r:embed="rId8"/>
                <a:stretch>
                  <a:fillRect l="-429" b="-1172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266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ZKB++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3" t="-16129" b="-35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24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477915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0400" y="3477915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869516"/>
                <a:ext cx="6270947" cy="569451"/>
              </a:xfrm>
              <a:prstGeom prst="rect">
                <a:avLst/>
              </a:prstGeom>
              <a:blipFill>
                <a:blip r:embed="rId6"/>
                <a:stretch>
                  <a:fillRect l="-194" b="-4211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400" dirty="0"/>
                  <a:t>) 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/>
                  <a:t> and the output shares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400" dirty="0"/>
                  <a:t> send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18" y="3837955"/>
                <a:ext cx="6052982" cy="1627497"/>
              </a:xfrm>
              <a:prstGeom prst="rect">
                <a:avLst/>
              </a:prstGeom>
              <a:blipFill>
                <a:blip r:embed="rId7"/>
                <a:stretch>
                  <a:fillRect l="-302" t="-7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9741C54-36AC-4BDC-BD1E-F8D94C2293A7}"/>
              </a:ext>
            </a:extLst>
          </p:cNvPr>
          <p:cNvCxnSpPr>
            <a:cxnSpLocks/>
          </p:cNvCxnSpPr>
          <p:nvPr/>
        </p:nvCxnSpPr>
        <p:spPr bwMode="auto">
          <a:xfrm>
            <a:off x="1835696" y="5373216"/>
            <a:ext cx="525658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설명선: 굽은 선 13">
                <a:extLst>
                  <a:ext uri="{FF2B5EF4-FFF2-40B4-BE49-F238E27FC236}">
                    <a16:creationId xmlns:a16="http://schemas.microsoft.com/office/drawing/2014/main" id="{AFAEDC04-85F9-4375-8DCE-A97A1660FD07}"/>
                  </a:ext>
                </a:extLst>
              </p:cNvPr>
              <p:cNvSpPr/>
              <p:nvPr/>
            </p:nvSpPr>
            <p:spPr bwMode="auto">
              <a:xfrm>
                <a:off x="1149315" y="4884879"/>
                <a:ext cx="3078104" cy="1844822"/>
              </a:xfrm>
              <a:prstGeom prst="borderCallout2">
                <a:avLst>
                  <a:gd name="adj1" fmla="val 20592"/>
                  <a:gd name="adj2" fmla="val 137725"/>
                  <a:gd name="adj3" fmla="val 49178"/>
                  <a:gd name="adj4" fmla="val 138143"/>
                  <a:gd name="adj5" fmla="val 52894"/>
                  <a:gd name="adj6" fmla="val 99036"/>
                </a:avLst>
              </a:prstGeom>
              <a:solidFill>
                <a:schemeClr val="bg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500" dirty="0"/>
                  <a:t>Since two output share can be computed from view and other output share can be computed by given </a:t>
                </a:r>
                <a14:m>
                  <m:oMath xmlns:m="http://schemas.openxmlformats.org/officeDocument/2006/math"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0" lang="en-US" altLang="ko-KR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not</a:t>
                </a:r>
                <a:r>
                  <a:rPr kumimoji="0" lang="en-US" altLang="ko-KR" sz="15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including output shares.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ko-KR" sz="1500" baseline="0" dirty="0"/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5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In proof, 3 output share included </a:t>
                </a:r>
                <a14:m>
                  <m:oMath xmlns:m="http://schemas.openxmlformats.org/officeDocument/2006/math">
                    <m:r>
                      <a:rPr kumimoji="0" lang="en-US" altLang="ko-KR" sz="1500" b="0" i="1" u="none" strike="noStrike" cap="none" normalizeH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0" lang="ko-KR" altLang="en-US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en-US" altLang="ko-KR" sz="15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no output share included</a:t>
                </a:r>
                <a:endParaRPr kumimoji="0" lang="ko-KR" altLang="en-US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4" name="설명선: 굽은 선 13">
                <a:extLst>
                  <a:ext uri="{FF2B5EF4-FFF2-40B4-BE49-F238E27FC236}">
                    <a16:creationId xmlns:a16="http://schemas.microsoft.com/office/drawing/2014/main" id="{AFAEDC04-85F9-4375-8DCE-A97A1660FD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9315" y="4884879"/>
                <a:ext cx="3078104" cy="1844822"/>
              </a:xfrm>
              <a:prstGeom prst="borderCallout2">
                <a:avLst>
                  <a:gd name="adj1" fmla="val 20592"/>
                  <a:gd name="adj2" fmla="val 137725"/>
                  <a:gd name="adj3" fmla="val 49178"/>
                  <a:gd name="adj4" fmla="val 138143"/>
                  <a:gd name="adj5" fmla="val 52894"/>
                  <a:gd name="adj6" fmla="val 99036"/>
                </a:avLst>
              </a:prstGeom>
              <a:blipFill>
                <a:blip r:embed="rId8"/>
                <a:stretch>
                  <a:fillRect l="-429" t="-328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257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ZKBoo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ZKB++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584116-3F60-4329-A04F-469B68B29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3" t="-16129" b="-35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25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6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91D73756-0D14-4AD5-A8F3-E353707FE548}"/>
              </a:ext>
            </a:extLst>
          </p:cNvPr>
          <p:cNvSpPr txBox="1">
            <a:spLocks/>
          </p:cNvSpPr>
          <p:nvPr/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굴림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25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/>
              <p:nvPr/>
            </p:nvSpPr>
            <p:spPr>
              <a:xfrm>
                <a:off x="1802553" y="3615193"/>
                <a:ext cx="417614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Compute the challenge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Open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thus revealing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553" y="3615193"/>
                <a:ext cx="4176143" cy="954107"/>
              </a:xfrm>
              <a:prstGeom prst="rect">
                <a:avLst/>
              </a:prstGeom>
              <a:blipFill>
                <a:blip r:embed="rId7"/>
                <a:stretch>
                  <a:fillRect l="-438" t="-1274" b="-5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52040E8-7C0F-4DAA-AEC3-3C6AEDEEF960}"/>
              </a:ext>
            </a:extLst>
          </p:cNvPr>
          <p:cNvCxnSpPr/>
          <p:nvPr/>
        </p:nvCxnSpPr>
        <p:spPr bwMode="auto">
          <a:xfrm>
            <a:off x="1835696" y="4797152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설명선: 선 12">
                <a:extLst>
                  <a:ext uri="{FF2B5EF4-FFF2-40B4-BE49-F238E27FC236}">
                    <a16:creationId xmlns:a16="http://schemas.microsoft.com/office/drawing/2014/main" id="{ED429F01-12A0-4445-9350-7AA2B0CCB407}"/>
                  </a:ext>
                </a:extLst>
              </p:cNvPr>
              <p:cNvSpPr/>
              <p:nvPr/>
            </p:nvSpPr>
            <p:spPr bwMode="auto">
              <a:xfrm>
                <a:off x="5334763" y="1895414"/>
                <a:ext cx="3547114" cy="1440161"/>
              </a:xfrm>
              <a:prstGeom prst="borderCallout1">
                <a:avLst>
                  <a:gd name="adj1" fmla="val 46566"/>
                  <a:gd name="adj2" fmla="val 14"/>
                  <a:gd name="adj3" fmla="val 162085"/>
                  <a:gd name="adj4" fmla="val -18692"/>
                </a:avLst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400" dirty="0"/>
                  <a:t>Verifier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400" dirty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400" dirty="0"/>
                  <a:t>.</a:t>
                </a:r>
                <a:br>
                  <a:rPr lang="en-US" altLang="ko-KR" sz="1400" dirty="0"/>
                </a:br>
                <a:r>
                  <a:rPr lang="en-US" altLang="ko-KR" sz="1400" dirty="0"/>
                  <a:t>So, Not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400" dirty="0"/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ko-KR" sz="1400" dirty="0"/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1400" dirty="0"/>
                  <a:t>In proof, 2 views open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1400" dirty="0"/>
                  <a:t> 1 view open.</a:t>
                </a:r>
              </a:p>
            </p:txBody>
          </p:sp>
        </mc:Choice>
        <mc:Fallback xmlns="">
          <p:sp>
            <p:nvSpPr>
              <p:cNvPr id="13" name="설명선: 선 12">
                <a:extLst>
                  <a:ext uri="{FF2B5EF4-FFF2-40B4-BE49-F238E27FC236}">
                    <a16:creationId xmlns:a16="http://schemas.microsoft.com/office/drawing/2014/main" id="{ED429F01-12A0-4445-9350-7AA2B0CCB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763" y="1895414"/>
                <a:ext cx="3547114" cy="1440161"/>
              </a:xfrm>
              <a:prstGeom prst="borderCallout1">
                <a:avLst>
                  <a:gd name="adj1" fmla="val 46566"/>
                  <a:gd name="adj2" fmla="val 14"/>
                  <a:gd name="adj3" fmla="val 162085"/>
                  <a:gd name="adj4" fmla="val -18692"/>
                </a:avLst>
              </a:prstGeom>
              <a:blipFill>
                <a:blip r:embed="rId8"/>
                <a:stretch>
                  <a:fillRect t="-26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874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ZKB++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26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5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/>
              <p:nvPr/>
            </p:nvSpPr>
            <p:spPr>
              <a:xfrm>
                <a:off x="1763688" y="3411096"/>
                <a:ext cx="6668998" cy="141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Sample random tapes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r>
                  <a:rPr lang="en-US" altLang="ko-KR" sz="1400" dirty="0"/>
                  <a:t>Run “in her head”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400" dirty="0"/>
                  <a:t>)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altLang="ko-KR" sz="1400" dirty="0"/>
                </a:br>
                <a:r>
                  <a:rPr lang="en-US" altLang="ko-KR" sz="1400" dirty="0"/>
                  <a:t>and obtain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views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/>
                  <a:t> and the output shares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Commit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Com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and set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53B42A-0C6A-4EED-A691-AD07A88C3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411096"/>
                <a:ext cx="6668998" cy="1412694"/>
              </a:xfrm>
              <a:prstGeom prst="rect">
                <a:avLst/>
              </a:prstGeom>
              <a:blipFill>
                <a:blip r:embed="rId6"/>
                <a:stretch>
                  <a:fillRect l="-274" t="-866" b="-3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097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ZKB++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27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/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Prover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&amp; 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629845-C4E9-44A1-928C-AA0130487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901851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3992" y="2901851"/>
                <a:ext cx="986400" cy="2674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5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91D73756-0D14-4AD5-A8F3-E353707FE548}"/>
              </a:ext>
            </a:extLst>
          </p:cNvPr>
          <p:cNvSpPr txBox="1">
            <a:spLocks/>
          </p:cNvSpPr>
          <p:nvPr/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굴림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27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/>
              <p:nvPr/>
            </p:nvSpPr>
            <p:spPr>
              <a:xfrm>
                <a:off x="1835696" y="3212976"/>
                <a:ext cx="3845668" cy="1751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Compute the challenge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Set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and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d>
                              <m:d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  <m:e>
                            <m:d>
                              <m:d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Send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4D4FA9-43D2-497F-B276-229C5678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212976"/>
                <a:ext cx="3845668" cy="1751826"/>
              </a:xfrm>
              <a:prstGeom prst="rect">
                <a:avLst/>
              </a:prstGeom>
              <a:blipFill>
                <a:blip r:embed="rId6"/>
                <a:stretch>
                  <a:fillRect l="-475" t="-697" b="-3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52040E8-7C0F-4DAA-AEC3-3C6AEDEEF960}"/>
              </a:ext>
            </a:extLst>
          </p:cNvPr>
          <p:cNvCxnSpPr/>
          <p:nvPr/>
        </p:nvCxnSpPr>
        <p:spPr bwMode="auto">
          <a:xfrm>
            <a:off x="1835696" y="5085184"/>
            <a:ext cx="476188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52674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84116-3F60-4329-A04F-469B68B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ZKB++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ZKB++ </a:t>
                </a:r>
                <a:r>
                  <a:rPr lang="en-US" altLang="ko-KR" b="0" dirty="0"/>
                  <a:t>[CDG]</a:t>
                </a:r>
              </a:p>
              <a:p>
                <a:pPr lvl="1"/>
                <a:r>
                  <a:rPr lang="en-US" altLang="ko-KR" dirty="0"/>
                  <a:t>Prover </a:t>
                </a:r>
                <a:r>
                  <a:rPr lang="en-US" altLang="ko-KR" i="1" dirty="0"/>
                  <a:t>P </a:t>
                </a:r>
                <a:r>
                  <a:rPr lang="en-US" altLang="ko-KR" dirty="0"/>
                  <a:t>proves that “I know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”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:∃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0" dirty="0"/>
              </a:p>
              <a:p>
                <a:pPr lvl="1"/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8ADB5D-37B3-473F-8AF1-77A4DD270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1F11B-D69E-4E64-B59D-340C273F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F0ACE-27B2-4AF0-ADD0-0B69E00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28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/>
              <p:nvPr/>
            </p:nvSpPr>
            <p:spPr bwMode="auto">
              <a:xfrm>
                <a:off x="7214273" y="3099516"/>
                <a:ext cx="986400" cy="267489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j-lt"/>
                  </a:rPr>
                  <a:t>Verifier has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A44EECE1-C5AF-49B2-85C6-5B122956F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4273" y="3099516"/>
                <a:ext cx="986400" cy="2674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/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altLang="ko-KR" sz="1400" b="0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altLang="ko-KR" sz="1400" b="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</a:rPr>
                  <a:t>A (2,3)-decomposition of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is given.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be a protocol related to the decomposition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20C25-6C6C-40BF-9735-AAF26DE8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26" y="2293452"/>
                <a:ext cx="6270947" cy="569451"/>
              </a:xfrm>
              <a:prstGeom prst="rect">
                <a:avLst/>
              </a:prstGeom>
              <a:blipFill>
                <a:blip r:embed="rId5"/>
                <a:stretch>
                  <a:fillRect l="-194" b="-4167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4">
            <a:extLst>
              <a:ext uri="{FF2B5EF4-FFF2-40B4-BE49-F238E27FC236}">
                <a16:creationId xmlns:a16="http://schemas.microsoft.com/office/drawing/2014/main" id="{91D73756-0D14-4AD5-A8F3-E353707FE548}"/>
              </a:ext>
            </a:extLst>
          </p:cNvPr>
          <p:cNvSpPr txBox="1">
            <a:spLocks/>
          </p:cNvSpPr>
          <p:nvPr/>
        </p:nvSpPr>
        <p:spPr bwMode="auto">
          <a:xfrm>
            <a:off x="3505200" y="6553200"/>
            <a:ext cx="213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굴림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28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959D-3C86-4EE9-9DBD-F467F69A6B6A}"/>
                  </a:ext>
                </a:extLst>
              </p:cNvPr>
              <p:cNvSpPr txBox="1"/>
              <p:nvPr/>
            </p:nvSpPr>
            <p:spPr>
              <a:xfrm>
                <a:off x="899592" y="3105046"/>
                <a:ext cx="6034799" cy="3044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400" b="0" dirty="0"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given</m:t>
                            </m:r>
                            <m: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in</m:t>
                            </m:r>
                            <m: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eqArr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given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in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1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  <m:e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altLang="ko-KR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and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Output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Output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b="0" dirty="0">
                    <a:solidFill>
                      <a:srgbClr val="FF0000"/>
                    </a:solidFill>
                  </a:rPr>
                  <a:t>Compute the commitment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Com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Com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:br>
                  <a:rPr lang="en-US" altLang="ko-KR" sz="1400" dirty="0">
                    <a:solidFill>
                      <a:srgbClr val="FF0000"/>
                    </a:solidFill>
                  </a:rPr>
                </a:br>
                <a:br>
                  <a:rPr lang="en-US" altLang="ko-KR" sz="1400" dirty="0">
                    <a:solidFill>
                      <a:srgbClr val="FF0000"/>
                    </a:solidFill>
                  </a:rPr>
                </a:br>
                <a:r>
                  <a:rPr lang="en-US" altLang="ko-KR" sz="1400" dirty="0"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and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is in b 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Compute the challenge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. If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, ACCEPT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959D-3C86-4EE9-9DBD-F467F69A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105046"/>
                <a:ext cx="6034799" cy="3044488"/>
              </a:xfrm>
              <a:prstGeom prst="rect">
                <a:avLst/>
              </a:prstGeom>
              <a:blipFill>
                <a:blip r:embed="rId6"/>
                <a:stretch>
                  <a:fillRect r="-1111" b="-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842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80509-A3B1-4F5D-A988-51AB5922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ZKB++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135FFE-7DD1-4A3C-B5D3-5505C643B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dirty="0"/>
                  <a:t>Proof size : </a:t>
                </a:r>
                <a:br>
                  <a:rPr lang="en-US" altLang="ko-KR" dirty="0"/>
                </a:br>
                <a:r>
                  <a:rPr lang="en-US" altLang="ko-KR" dirty="0"/>
                  <a:t>To achieve soundness error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dirty="0"/>
                  <a:t>, we must repeat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/>
                  <a:t> times.</a:t>
                </a:r>
                <a:br>
                  <a:rPr lang="en-US" altLang="ko-KR" dirty="0"/>
                </a:br>
                <a:r>
                  <a:rPr lang="en-US" altLang="ko-KR" dirty="0"/>
                  <a:t>Assume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en-US" altLang="ko-KR" dirty="0"/>
                </a:br>
                <a:br>
                  <a:rPr lang="en-US" altLang="ko-KR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|+|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altLang="ko-KR" b="0" dirty="0"/>
                  <a:t>  </a:t>
                </a:r>
                <a:br>
                  <a:rPr lang="en-US" altLang="ko-KR" b="0" dirty="0"/>
                </a:br>
                <a:r>
                  <a:rPr lang="en-US" altLang="ko-KR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ko-KR" b="0" dirty="0"/>
                  <a:t> </a:t>
                </a:r>
                <a:br>
                  <a:rPr lang="en-US" altLang="ko-KR" b="0" dirty="0"/>
                </a:br>
                <a:r>
                  <a:rPr lang="en-US" altLang="ko-KR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⋅(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br>
                  <a:rPr lang="en-US" altLang="ko-KR" b="0" dirty="0"/>
                </a:br>
                <a:br>
                  <a:rPr lang="en-US" altLang="ko-KR" b="0" dirty="0"/>
                </a:br>
                <a:br>
                  <a:rPr lang="en-US" altLang="ko-KR" b="0" dirty="0"/>
                </a:br>
                <a:br>
                  <a:rPr lang="en-US" altLang="ko-KR" b="0" dirty="0"/>
                </a:br>
                <a:br>
                  <a:rPr lang="en-US" altLang="ko-KR" b="0" dirty="0"/>
                </a:br>
                <a:br>
                  <a:rPr lang="en-US" altLang="ko-KR" b="0" dirty="0"/>
                </a:br>
                <a:r>
                  <a:rPr lang="en-US" altLang="ko-KR" b="0" dirty="0"/>
                  <a:t>When prove SHA-256 pre-image, </a:t>
                </a:r>
                <a:br>
                  <a:rPr lang="en-US" altLang="ko-KR" b="0" dirty="0"/>
                </a:br>
                <a:r>
                  <a:rPr lang="en-US" altLang="ko-KR" b="0" dirty="0"/>
                  <a:t>ZKBOO proof size : 1287 KB (100%)</a:t>
                </a:r>
                <a:br>
                  <a:rPr lang="en-US" altLang="ko-KR" b="0" dirty="0"/>
                </a:br>
                <a:r>
                  <a:rPr lang="en-US" altLang="ko-KR" b="0" dirty="0"/>
                  <a:t>ZKB++ proof size : 618KB (48%)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135FFE-7DD1-4A3C-B5D3-5505C643B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52" b="-1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EFCD22-0B7E-4A61-8A5E-D4840B9B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7D6E86-7345-42FB-AD8A-BCE3BDC5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29</a:t>
            </a:fld>
            <a:endParaRPr lang="en-US" altLang="ko-KR" dirty="0">
              <a:solidFill>
                <a:srgbClr val="003366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8C9FD-0506-41DC-9A21-7D47C0D5FC5B}"/>
                  </a:ext>
                </a:extLst>
              </p:cNvPr>
              <p:cNvSpPr txBox="1"/>
              <p:nvPr/>
            </p:nvSpPr>
            <p:spPr>
              <a:xfrm>
                <a:off x="1073898" y="4293096"/>
                <a:ext cx="4752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ZKBOO: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8C9FD-0506-41DC-9A21-7D47C0D5F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898" y="4293096"/>
                <a:ext cx="4752528" cy="369332"/>
              </a:xfrm>
              <a:prstGeom prst="rect">
                <a:avLst/>
              </a:prstGeom>
              <a:blipFill>
                <a:blip r:embed="rId3"/>
                <a:stretch>
                  <a:fillRect l="-1026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224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F48D9-814E-4B50-A9CD-A452FA20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Fish signature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DCFD5A3-1BDF-4CE7-9853-64014BB421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908720"/>
                <a:ext cx="8496944" cy="5522243"/>
              </a:xfrm>
            </p:spPr>
            <p:txBody>
              <a:bodyPr/>
              <a:lstStyle/>
              <a:p>
                <a:r>
                  <a:rPr lang="en-US" altLang="ko-KR" dirty="0"/>
                  <a:t>Fish signature [CDG]</a:t>
                </a:r>
              </a:p>
              <a:p>
                <a:pPr lvl="1"/>
                <a:r>
                  <a:rPr lang="en-US" altLang="ko-KR" dirty="0"/>
                  <a:t>Apply Fiat-Shamir transform to ZKB++.</a:t>
                </a:r>
              </a:p>
              <a:p>
                <a:pPr lvl="1"/>
                <a:r>
                  <a:rPr lang="en-US" altLang="ko-KR" dirty="0"/>
                  <a:t>Signer have a secret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s.t.</a:t>
                </a:r>
                <a:r>
                  <a:rPr lang="en-US" altLang="ko-KR" dirty="0"/>
                  <a:t> pre-image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of one-way function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, sampled uniformly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We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denotes the encryption block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w.r.t.</a:t>
                </a:r>
                <a:r>
                  <a:rPr lang="en-US" altLang="ko-KR" dirty="0"/>
                  <a:t> key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: Choose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en-US" altLang="ko-KR" dirty="0"/>
                  <a:t>, compute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,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pk</m:t>
                        </m:r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/>
                  <a:t>. 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sk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pk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: compute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Prove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/>
                  <a:t> and return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/>
                  <a:t>, where the challenge is computed as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Verify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pk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: Return 1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Verify</m:t>
                        </m:r>
                      </m:e>
                      <m:sup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 and 0 otherwise, where the challenge is computed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br>
                  <a:rPr lang="en-US" altLang="ko-KR" dirty="0"/>
                </a:br>
                <a:br>
                  <a:rPr lang="en-US" altLang="ko-KR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u="sng" smtClean="0">
                            <a:latin typeface="Cambria Math" panose="02040503050406030204" pitchFamily="18" charset="0"/>
                          </a:rPr>
                          <m:t>Prove</m:t>
                        </m:r>
                      </m:e>
                      <m:sup>
                        <m:r>
                          <a:rPr lang="en-US" altLang="ko-KR" sz="1600" b="0" i="0" u="sng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600" b="0" i="0" u="sng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1600" b="0" i="0" u="sng" smtClean="0">
                        <a:latin typeface="Cambria Math" panose="02040503050406030204" pitchFamily="18" charset="0"/>
                      </a:rPr>
                      <m:t>Verify</m:t>
                    </m:r>
                    <m:r>
                      <a:rPr lang="en-US" altLang="ko-KR" sz="1600" b="0" i="0" u="sng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sz="1600" u="sng" dirty="0"/>
                  <a:t> are prove, verify algorithm of ZKB++ proving knowledge of </a:t>
                </a:r>
                <a14:m>
                  <m:oMath xmlns:m="http://schemas.openxmlformats.org/officeDocument/2006/math">
                    <m:r>
                      <a:rPr lang="en-US" altLang="ko-KR" sz="1600" b="0" i="1" u="sng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u="sng" dirty="0"/>
                  <a:t> </a:t>
                </a:r>
                <a:r>
                  <a:rPr lang="en-US" altLang="ko-KR" sz="1600" u="sng" dirty="0" err="1"/>
                  <a:t>s.t.</a:t>
                </a:r>
                <a:r>
                  <a:rPr lang="en-US" altLang="ko-KR" sz="1600" u="sng" dirty="0"/>
                  <a:t> </a:t>
                </a:r>
                <a:br>
                  <a:rPr lang="en-US" altLang="ko-KR" sz="1600" u="sng" dirty="0"/>
                </a:br>
                <a14:m>
                  <m:oMath xmlns:m="http://schemas.openxmlformats.org/officeDocument/2006/math">
                    <m:r>
                      <a:rPr lang="en-US" altLang="ko-KR" sz="1600" b="0" i="1" u="sng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u="sng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600" u="sng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DCFD5A3-1BDF-4CE7-9853-64014BB421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08720"/>
                <a:ext cx="8496944" cy="5522243"/>
              </a:xfrm>
              <a:blipFill>
                <a:blip r:embed="rId2"/>
                <a:stretch>
                  <a:fillRect l="-646" t="-552" r="-1435" b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C986D0-5BF6-446B-95B9-FCB6849D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2A3772-FD5B-44A4-8D3A-0DF91EB3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30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766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B519D-43DE-43D7-B963-5F6BC695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Picnic signature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51D56A0-C47A-4C6B-BD5C-E524F37971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Unruh transform</a:t>
                </a:r>
              </a:p>
              <a:p>
                <a:pPr lvl="1"/>
                <a:r>
                  <a:rPr lang="en-US" altLang="ko-KR" dirty="0"/>
                  <a:t>Given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ko-KR" dirty="0"/>
                  <a:t>-protocol with challenge space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dirty="0"/>
                  <a:t>, a message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dirty="0"/>
                  <a:t>, and a random permutation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dirty="0"/>
                  <a:t>. The Signer will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Run first phase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ko-KR" dirty="0"/>
                  <a:t>-protocol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times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For each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1,⋯,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dirty="0"/>
                  <a:t>, compute the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challenge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dirty="0"/>
                  <a:t>.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obtain a set of indices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Output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marL="857250" lvl="1" indent="-342900"/>
                <a:r>
                  <a:rPr lang="en-US" altLang="ko-KR" dirty="0"/>
                  <a:t>Verifier will verify that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match the corresponding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are valid responses </a:t>
                </a:r>
                <a:r>
                  <a:rPr lang="en-US" altLang="ko-KR" dirty="0" err="1"/>
                  <a:t>w.r.t.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</a:p>
              <a:p>
                <a:pPr marL="857250" lvl="1" indent="-342900"/>
                <a:endParaRPr lang="en-US" altLang="ko-KR" dirty="0"/>
              </a:p>
              <a:p>
                <a:pPr marL="857250" lvl="1" indent="-342900"/>
                <a:r>
                  <a:rPr lang="en-US" altLang="ko-KR" dirty="0"/>
                  <a:t>Secure in the QROM (Quantum Random Oracle Model)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51D56A0-C47A-4C6B-BD5C-E524F37971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 r="-19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F19CBD-2E8B-4672-ACCB-3A1E61D9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1B51EA-7753-4BEC-9161-AE15AA44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31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95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DAD9A-C172-4730-8AD1-53DC2FDD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Picnic signature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9A6D12-0A28-46C5-8CE8-830AF3612E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Picnic signature [CDG]</a:t>
                </a:r>
              </a:p>
              <a:p>
                <a:pPr lvl="1"/>
                <a:r>
                  <a:rPr lang="en-US" altLang="ko-KR" dirty="0"/>
                  <a:t>Apply Unruh transform to ZKB++.</a:t>
                </a:r>
              </a:p>
              <a:p>
                <a:pPr lvl="1"/>
                <a:r>
                  <a:rPr lang="en-US" altLang="ko-KR" dirty="0"/>
                  <a:t>If applied directly, we have to additionally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US" altLang="ko-KR" dirty="0"/>
                </a:br>
                <a:r>
                  <a:rPr lang="en-US" altLang="ko-KR" dirty="0"/>
                  <a:t>The additional size is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How to reduce additional size?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Compute a permutation of view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ko-KR" dirty="0"/>
                  <a:t>, not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i.e. the prover 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not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.</a:t>
                </a:r>
                <a:br>
                  <a:rPr lang="en-US" altLang="ko-KR" dirty="0"/>
                </a:br>
                <a:r>
                  <a:rPr lang="en-US" altLang="ko-KR" dirty="0"/>
                  <a:t>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→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ko-KR" dirty="0"/>
                  <a:t>Verifier compute two views and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dirty="0"/>
                  <a:t> is public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ko-KR" dirty="0"/>
                  <a:t> need to include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 is not included in the proof.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permutation value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permutation value</a:t>
                </a:r>
              </a:p>
              <a:p>
                <a:pPr marL="914400" lvl="2" indent="0">
                  <a:buNone/>
                </a:pPr>
                <a:br>
                  <a:rPr lang="en-US" altLang="ko-KR" dirty="0"/>
                </a:br>
                <a:r>
                  <a:rPr lang="en-US" altLang="ko-KR" dirty="0"/>
                  <a:t>The reduced additional size is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View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:pPr marL="1257300" lvl="2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457200" lvl="1" indent="0">
                  <a:buNone/>
                </a:pPr>
                <a:br>
                  <a:rPr lang="en-US" altLang="ko-KR" dirty="0"/>
                </a:b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9A6D12-0A28-46C5-8CE8-830AF3612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6BC431-BCBA-4974-9620-AFA42668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25CD8B-2741-4160-B9EE-77E481F5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32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813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9D41E-40EC-4349-BFBA-F11A5FC7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Fish / Picnic signature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B49D9-6E55-406B-8C18-916031AF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3E3CCC-BC46-4CC1-B171-0A4B8F15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F40835-2619-426E-88EF-521EBD7E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33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788F09-3CC9-4078-B87B-F06AE843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604" y="1124744"/>
            <a:ext cx="5928791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12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A005C-4623-4D83-A6BA-93327A04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C8EAA9-34DB-4300-BB30-B893F65DBF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dirty="0"/>
                  <a:t>2018</a:t>
                </a:r>
                <a:r>
                  <a:rPr lang="ko-KR" altLang="en-US" b="0" dirty="0"/>
                  <a:t>년 </a:t>
                </a:r>
                <a:r>
                  <a:rPr lang="en-US" altLang="ko-KR" b="0" dirty="0" err="1"/>
                  <a:t>J.Katz</a:t>
                </a:r>
                <a:r>
                  <a:rPr lang="en-US" altLang="ko-KR" b="0" dirty="0"/>
                  <a:t> </a:t>
                </a:r>
                <a:r>
                  <a:rPr lang="ko-KR" altLang="en-US" b="0" dirty="0"/>
                  <a:t>외 </a:t>
                </a:r>
                <a:r>
                  <a:rPr lang="en-US" altLang="ko-KR" b="0" dirty="0"/>
                  <a:t>3</a:t>
                </a:r>
                <a:r>
                  <a:rPr lang="ko-KR" altLang="en-US" b="0" dirty="0"/>
                  <a:t>명이 발표</a:t>
                </a:r>
                <a:r>
                  <a:rPr lang="en-US" altLang="ko-KR" b="0" dirty="0"/>
                  <a:t>.</a:t>
                </a:r>
              </a:p>
              <a:p>
                <a:endParaRPr lang="en-US" altLang="ko-KR" b="0" dirty="0"/>
              </a:p>
              <a:p>
                <a:r>
                  <a:rPr lang="en-US" altLang="ko-KR" b="0" dirty="0" err="1"/>
                  <a:t>ZKBoo</a:t>
                </a:r>
                <a:r>
                  <a:rPr lang="en-US" altLang="ko-KR" b="0" dirty="0"/>
                  <a:t> / ZKB++ </a:t>
                </a:r>
                <a:r>
                  <a:rPr lang="ko-KR" altLang="en-US" b="0" dirty="0"/>
                  <a:t>는 </a:t>
                </a:r>
                <a:r>
                  <a:rPr lang="en-US" altLang="ko-KR" b="0" dirty="0"/>
                  <a:t>3-party MPC</a:t>
                </a:r>
                <a:r>
                  <a:rPr lang="ko-KR" altLang="en-US" b="0" dirty="0"/>
                  <a:t>를 이용</a:t>
                </a:r>
                <a:br>
                  <a:rPr lang="en-US" altLang="ko-KR" b="0" dirty="0"/>
                </a:br>
                <a:br>
                  <a:rPr lang="en-US" altLang="ko-KR" b="0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b="0" dirty="0"/>
                  <a:t> </a:t>
                </a:r>
                <a:r>
                  <a:rPr lang="ko-KR" altLang="en-US" b="0" dirty="0"/>
                  <a:t>높은 </a:t>
                </a:r>
                <a:r>
                  <a:rPr lang="en-US" altLang="ko-KR" b="0" dirty="0"/>
                  <a:t>soundness error</a:t>
                </a:r>
                <a:r>
                  <a:rPr lang="ko-KR" altLang="en-US" b="0" dirty="0"/>
                  <a:t>로 인해 많은 반복이 필요함</a:t>
                </a:r>
                <a:br>
                  <a:rPr lang="en-US" altLang="ko-KR" b="0" dirty="0"/>
                </a:br>
                <a:br>
                  <a:rPr lang="en-US" altLang="ko-KR" b="0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MPC 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altLang="ko-KR" b="0" dirty="0"/>
                  <a:t>)</a:t>
                </a:r>
                <a:r>
                  <a:rPr lang="ko-KR" altLang="en-US" b="0" dirty="0"/>
                  <a:t>를 이용하여 더 적은 반복이 필요한 </a:t>
                </a:r>
                <a:r>
                  <a:rPr lang="en-US" altLang="ko-KR" b="0" dirty="0"/>
                  <a:t>ZK </a:t>
                </a:r>
                <a:r>
                  <a:rPr lang="ko-KR" altLang="en-US" b="0" dirty="0"/>
                  <a:t>설계</a:t>
                </a:r>
                <a:endParaRPr lang="en-US" altLang="ko-KR" b="0" dirty="0"/>
              </a:p>
              <a:p>
                <a:pPr marL="0" indent="0">
                  <a:buNone/>
                </a:pPr>
                <a:endParaRPr lang="en-US" altLang="ko-KR" b="0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b="0" dirty="0"/>
                  <a:t>-privacy, 0-robustness</a:t>
                </a:r>
                <a:r>
                  <a:rPr lang="ko-KR" altLang="en-US" b="0" dirty="0"/>
                  <a:t>를 가진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MPC </a:t>
                </a:r>
                <a:r>
                  <a:rPr lang="ko-KR" altLang="en-US" b="0" dirty="0"/>
                  <a:t>사용</a:t>
                </a:r>
                <a:r>
                  <a:rPr lang="en-US" altLang="ko-KR" b="0" dirty="0"/>
                  <a:t>.</a:t>
                </a:r>
                <a:br>
                  <a:rPr lang="en-US" altLang="ko-KR" b="0" dirty="0"/>
                </a:br>
                <a:br>
                  <a:rPr lang="en-US" altLang="ko-KR" b="0" dirty="0"/>
                </a:br>
                <a:r>
                  <a:rPr lang="en-US" altLang="ko-KR" b="0" dirty="0"/>
                  <a:t>Phase 1 (preprocessing)</a:t>
                </a:r>
                <a:r>
                  <a:rPr lang="ko-KR" altLang="en-US" b="0" dirty="0"/>
                  <a:t>과 </a:t>
                </a:r>
                <a:r>
                  <a:rPr lang="en-US" altLang="ko-KR" b="0" dirty="0"/>
                  <a:t>Phase 2 (Protocol execution)</a:t>
                </a:r>
                <a:r>
                  <a:rPr lang="ko-KR" altLang="en-US" b="0" dirty="0"/>
                  <a:t>로 구성</a:t>
                </a:r>
                <a:r>
                  <a:rPr lang="en-US" altLang="ko-KR" b="0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Notation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b="0" dirty="0"/>
                  <a:t> : the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-out-of-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 (XOR-based) secret sharing of a bit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altLang="ko-KR" b="0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ko-KR" b="0" dirty="0"/>
                  <a:t> : the number of AND gates in circuit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b="0" dirty="0"/>
                  <a:t>.</a:t>
                </a:r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C8EAA9-34DB-4300-BB30-B893F65DB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008691-21A7-490E-85E1-15B3334C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F70A6A-3815-4C4D-91AD-CDC74AAB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34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85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C9E1D-4051-47AF-8C68-C1600457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9F544D-7F69-4D22-8B91-7E2D7F633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MPC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ko-KR" b="0" dirty="0"/>
              </a:p>
              <a:p>
                <a:pPr lvl="1"/>
                <a:r>
                  <a:rPr lang="en-US" altLang="ko-KR" sz="1800" b="0" dirty="0"/>
                  <a:t>The par</a:t>
                </a:r>
                <a:r>
                  <a:rPr lang="en-US" altLang="ko-KR" sz="1800" dirty="0"/>
                  <a:t>ties hold masked value and an secret sharing of a random mask of the wire in circuit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800" dirty="0"/>
                  <a:t>.</a:t>
                </a:r>
                <a:endParaRPr lang="en-US" altLang="ko-KR" sz="1800" b="0" dirty="0"/>
              </a:p>
              <a:p>
                <a:pPr lvl="1"/>
                <a:r>
                  <a:rPr lang="en-US" altLang="ko-KR" sz="1800" b="1" dirty="0"/>
                  <a:t>Preprocessing</a:t>
                </a:r>
                <a:br>
                  <a:rPr lang="en-US" altLang="ko-KR" sz="1800" dirty="0"/>
                </a:br>
                <a:br>
                  <a:rPr lang="en-US" altLang="ko-KR" sz="1800" dirty="0"/>
                </a:br>
                <a:r>
                  <a:rPr lang="en-US" altLang="ko-KR" sz="1800" dirty="0"/>
                  <a:t>For each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800" dirty="0"/>
                  <a:t> that is </a:t>
                </a:r>
                <a:r>
                  <a:rPr lang="en-US" altLang="ko-KR" sz="1800" u="sng" dirty="0"/>
                  <a:t>input wire of circuit</a:t>
                </a:r>
                <a:r>
                  <a:rPr lang="en-US" altLang="ko-KR" sz="1800" dirty="0"/>
                  <a:t> or </a:t>
                </a:r>
                <a:r>
                  <a:rPr lang="en-US" altLang="ko-KR" sz="1800" u="sng" dirty="0"/>
                  <a:t>output wire of AND gate</a:t>
                </a:r>
                <a:r>
                  <a:rPr lang="en-US" altLang="ko-KR" sz="1800" dirty="0"/>
                  <a:t>, the parties is given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800" b="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is uniform. </a:t>
                </a:r>
                <a:r>
                  <a:rPr lang="en-US" altLang="ko-KR" sz="1800" dirty="0"/>
                  <a:t>And for each AND gate with input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800" b="0" dirty="0"/>
                  <a:t>, the parties are given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800" b="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:br>
                  <a:rPr lang="en-US" altLang="ko-KR" sz="1800" b="0" dirty="0"/>
                </a:br>
                <a:r>
                  <a:rPr lang="en-US" altLang="ko-KR" sz="1800" b="0" dirty="0"/>
                  <a:t>The share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is uniform, and so can be generated by party generate shares, and then defining the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based in the resulting shares. </a:t>
                </a:r>
                <a:br>
                  <a:rPr lang="en-US" altLang="ko-KR" sz="1800" b="0" dirty="0"/>
                </a:br>
                <a:r>
                  <a:rPr lang="en-US" altLang="ko-KR" sz="1800" dirty="0"/>
                  <a:t>The share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lit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can be generated by this way, but the final share is constrained by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. So, last party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is additionally given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ko-KR" altLang="en-US" sz="1800" b="0" dirty="0"/>
                  <a:t> </a:t>
                </a:r>
                <a:r>
                  <a:rPr lang="en-US" altLang="ko-KR" sz="1800" b="0" dirty="0"/>
                  <a:t>bits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</a:rPr>
                          <m:t>aux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:br>
                  <a:rPr lang="en-US" altLang="ko-KR" sz="1800" b="0" dirty="0"/>
                </a:br>
                <a:endParaRPr lang="en-US" altLang="ko-KR" sz="1800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9F544D-7F69-4D22-8B91-7E2D7F633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 r="-11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95B838-0022-469C-A017-7E0197DA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103287-9932-4CBC-BE4E-A86EC391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35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869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C9E1D-4051-47AF-8C68-C1600457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9F544D-7F69-4D22-8B91-7E2D7F633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b="0" dirty="0"/>
                  <a:t>-party MPC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ko-KR" b="0" dirty="0"/>
              </a:p>
              <a:p>
                <a:pPr lvl="1"/>
                <a:r>
                  <a:rPr lang="en-US" altLang="ko-KR" sz="1800" b="1" dirty="0"/>
                  <a:t>Protocol execution</a:t>
                </a:r>
                <a:br>
                  <a:rPr lang="en-US" altLang="ko-KR" sz="1800" dirty="0"/>
                </a:br>
                <a:br>
                  <a:rPr lang="en-US" altLang="ko-KR" sz="1800" dirty="0"/>
                </a:br>
                <a:r>
                  <a:rPr lang="en-US" altLang="ko-KR" sz="1800" dirty="0"/>
                  <a:t>(we can perform public reconstruction of shared value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800" b="0" dirty="0"/>
                  <a:t> by broadcast.)</a:t>
                </a:r>
                <a:br>
                  <a:rPr lang="en-US" altLang="ko-KR" sz="1800" b="0" dirty="0"/>
                </a:br>
                <a:r>
                  <a:rPr lang="en-US" altLang="ko-KR" sz="18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 </a:t>
                </a:r>
                <a:r>
                  <a:rPr lang="en-US" altLang="ko-KR" sz="1800" dirty="0"/>
                  <a:t>denote the value of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800" b="0" dirty="0"/>
                  <a:t> in the circuit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800" b="0" dirty="0"/>
                  <a:t> when evaluated on input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800" b="0" dirty="0"/>
                  <a:t> and </a:t>
                </a:r>
                <a:br>
                  <a:rPr lang="en-US" altLang="ko-KR" sz="18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:br>
                  <a:rPr lang="en-US" altLang="ko-KR" sz="1800" dirty="0"/>
                </a:br>
                <a:r>
                  <a:rPr lang="en-US" altLang="ko-KR" sz="1800" dirty="0"/>
                  <a:t>The parties begin the protocol holding a masked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 for each input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800" b="0" dirty="0"/>
                  <a:t>.</a:t>
                </a:r>
                <a:br>
                  <a:rPr lang="en-US" altLang="ko-KR" sz="1800" b="0" dirty="0"/>
                </a:br>
                <a:r>
                  <a:rPr lang="en-US" altLang="ko-KR" sz="1800" b="0" dirty="0"/>
                  <a:t>During the protocol execution, the parties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1800" b="0" dirty="0"/>
                  <a:t> for all wires in the circuit.</a:t>
                </a:r>
                <a:br>
                  <a:rPr lang="en-US" altLang="ko-KR" sz="1800" b="0" dirty="0"/>
                </a:br>
                <a:br>
                  <a:rPr lang="en-US" altLang="ko-KR" sz="1800" b="0" dirty="0"/>
                </a:br>
                <a:r>
                  <a:rPr lang="en-US" altLang="ko-KR" sz="1800" dirty="0"/>
                  <a:t>For each gate of the circuit with input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800" b="0" dirty="0"/>
                  <a:t> and output wire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800" b="0" dirty="0"/>
                  <a:t>, the parties do:</a:t>
                </a:r>
              </a:p>
              <a:p>
                <a:pPr lvl="2"/>
                <a:r>
                  <a:rPr lang="en-US" altLang="ko-KR" sz="1600" b="0" dirty="0"/>
                  <a:t>If the gate is </a:t>
                </a:r>
                <a:r>
                  <a:rPr lang="en-US" altLang="ko-KR" sz="1600" dirty="0"/>
                  <a:t>XOR gate, the parties locally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sz="1600" b="0" dirty="0"/>
                  <a:t>.</a:t>
                </a:r>
              </a:p>
              <a:p>
                <a:pPr lvl="2"/>
                <a:r>
                  <a:rPr lang="en-US" altLang="ko-KR" sz="1600" dirty="0"/>
                  <a:t>If the gate is AND gate, the parties locally compute </a:t>
                </a:r>
                <a:br>
                  <a:rPr lang="en-US" altLang="ko-KR" sz="160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ko-KR" sz="1600" b="0" dirty="0"/>
                </a:br>
                <a:r>
                  <a:rPr lang="en-US" altLang="ko-KR" sz="1600" b="0" dirty="0"/>
                  <a:t>and ten publicly reconstruct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600" b="0" dirty="0"/>
                  <a:t>. Finally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ko-KR" sz="1600" b="0" dirty="0"/>
                  <a:t>.</a:t>
                </a:r>
              </a:p>
              <a:p>
                <a:pPr lvl="1"/>
                <a:endParaRPr lang="en-US" altLang="ko-KR" sz="1800" dirty="0"/>
              </a:p>
              <a:p>
                <a:pPr marL="457200" lvl="1" indent="0">
                  <a:buNone/>
                </a:pPr>
                <a:r>
                  <a:rPr lang="en-US" altLang="ko-KR" sz="1800" dirty="0"/>
                  <a:t>      For a circuit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altLang="ko-KR" sz="1800" dirty="0"/>
                  <a:t> AND gates, at most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800" dirty="0"/>
                  <a:t> share reconstructions are   </a:t>
                </a:r>
                <a:br>
                  <a:rPr lang="en-US" altLang="ko-KR" sz="1800" dirty="0"/>
                </a:br>
                <a:r>
                  <a:rPr lang="en-US" altLang="ko-KR" sz="1800" dirty="0"/>
                  <a:t>      needed.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9F544D-7F69-4D22-8B91-7E2D7F633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5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95B838-0022-469C-A017-7E0197DA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103287-9932-4CBC-BE4E-A86EC391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36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666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08471-0659-4974-9FA8-5966D9F6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2CDF5E-031F-4256-B966-2C69A828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1BDC14-3E8E-42D0-B3CA-75338B90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37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5D8127-1AA7-406F-B143-2CE692D92E5D}"/>
              </a:ext>
            </a:extLst>
          </p:cNvPr>
          <p:cNvSpPr/>
          <p:nvPr/>
        </p:nvSpPr>
        <p:spPr bwMode="auto">
          <a:xfrm>
            <a:off x="539552" y="1556792"/>
            <a:ext cx="986400" cy="4104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Prover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2A5AE-234C-4219-A3E3-911E9345F249}"/>
                  </a:ext>
                </a:extLst>
              </p:cNvPr>
              <p:cNvSpPr txBox="1"/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Prover, verifier have circuit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; the prover holds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.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2A5AE-234C-4219-A3E3-911E9345F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blipFill>
                <a:blip r:embed="rId2"/>
                <a:stretch>
                  <a:fillRect l="-248" t="-1923" r="-124" b="-17308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49AF5C-51B9-4ECA-9664-68365088C404}"/>
                  </a:ext>
                </a:extLst>
              </p:cNvPr>
              <p:cNvSpPr txBox="1"/>
              <p:nvPr/>
            </p:nvSpPr>
            <p:spPr>
              <a:xfrm>
                <a:off x="1763688" y="1589449"/>
                <a:ext cx="6668998" cy="3552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For each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br>
                  <a:rPr lang="en-US" altLang="ko-KR" sz="1400" dirty="0"/>
                </a:br>
                <a:endParaRPr lang="en-US" altLang="ko-KR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sz="1400" dirty="0"/>
                  <a:t>Choose uniform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seed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altLang="ko-KR" sz="1400" dirty="0"/>
                  <a:t> and use it to generate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see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,⋯,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see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ko-KR" sz="1400" dirty="0"/>
                  <a:t>. Also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aux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ko-KR" sz="1400" dirty="0"/>
                  <a:t>. </a:t>
                </a:r>
                <a:br>
                  <a:rPr lang="en-US" altLang="ko-KR" sz="1400" dirty="0"/>
                </a:br>
                <a:r>
                  <a:rPr lang="en-US" altLang="ko-KR" sz="1400" dirty="0"/>
                  <a:t>For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state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seed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;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state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seed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aux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sz="1400" dirty="0"/>
                  <a:t>For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/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com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Com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state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sz="1400" dirty="0"/>
                  <a:t>The prover simulates the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/>
                  <a:t>-party protocol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 sz="1400" dirty="0"/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, beginning by computing the masked inputs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4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/>
                  <a:t> (based on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/>
                  <a:t> defined by preprocessing). </a:t>
                </a:r>
                <a:br>
                  <a:rPr lang="en-US" altLang="ko-KR" sz="1400" dirty="0"/>
                </a:br>
                <a:r>
                  <a:rPr lang="en-US" altLang="ko-KR" sz="1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atin typeface="Cambria Math" panose="02040503050406030204" pitchFamily="18" charset="0"/>
                          </a:rPr>
                          <m:t>msg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 denote the messages broadcast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sz="1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com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com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msg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msg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sz="1400" dirty="0"/>
              </a:p>
              <a:p>
                <a:r>
                  <a:rPr lang="en-US" altLang="ko-KR" sz="1400" dirty="0"/>
                  <a:t>Compute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 and send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49AF5C-51B9-4ECA-9664-68365088C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589449"/>
                <a:ext cx="6668998" cy="3552832"/>
              </a:xfrm>
              <a:prstGeom prst="rect">
                <a:avLst/>
              </a:prstGeom>
              <a:blipFill>
                <a:blip r:embed="rId3"/>
                <a:stretch>
                  <a:fillRect l="-274" t="-343" r="-914" b="-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7AE74A-EB65-4C50-9B17-8341D6C21BEE}"/>
              </a:ext>
            </a:extLst>
          </p:cNvPr>
          <p:cNvCxnSpPr>
            <a:cxnSpLocks/>
          </p:cNvCxnSpPr>
          <p:nvPr/>
        </p:nvCxnSpPr>
        <p:spPr bwMode="auto">
          <a:xfrm>
            <a:off x="1835696" y="5373216"/>
            <a:ext cx="633670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60276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4D77F-6D46-475B-87BE-0F5452A2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AB8BDF-E8E6-4698-9012-B0207C98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961BC0-7339-41A0-8BBD-B47C02AE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38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582B88-D50E-4CA1-A55A-36C8A25F5959}"/>
              </a:ext>
            </a:extLst>
          </p:cNvPr>
          <p:cNvSpPr/>
          <p:nvPr/>
        </p:nvSpPr>
        <p:spPr bwMode="auto">
          <a:xfrm>
            <a:off x="467544" y="1556798"/>
            <a:ext cx="986400" cy="4451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Prover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C4165-083D-4AEC-AF0C-10F5D204B30E}"/>
              </a:ext>
            </a:extLst>
          </p:cNvPr>
          <p:cNvSpPr/>
          <p:nvPr/>
        </p:nvSpPr>
        <p:spPr bwMode="auto">
          <a:xfrm>
            <a:off x="7546040" y="1556798"/>
            <a:ext cx="986400" cy="4451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Verifier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0CFE-418E-429B-A189-7B4C11B87109}"/>
                  </a:ext>
                </a:extLst>
              </p:cNvPr>
              <p:cNvSpPr txBox="1"/>
              <p:nvPr/>
            </p:nvSpPr>
            <p:spPr>
              <a:xfrm>
                <a:off x="2116744" y="1892043"/>
                <a:ext cx="5012814" cy="1072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Choose a subset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1,⋯,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rgbClr val="FF0000"/>
                    </a:solidFill>
                  </a:rPr>
                  <a:t>s.t.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</a:t>
                </a:r>
                <a:br>
                  <a:rPr lang="en-US" altLang="ko-KR" sz="1400" dirty="0">
                    <a:solidFill>
                      <a:srgbClr val="FF0000"/>
                    </a:solidFill>
                  </a:rPr>
                </a:br>
                <a:r>
                  <a:rPr lang="en-US" altLang="ko-KR" sz="1400" dirty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1,⋯</m:t>
                            </m:r>
                            <m:r>
                              <a:rPr lang="en-US" altLang="ko-KR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∈{1,⋯,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</a:rPr>
                  <a:t> is uniform.</a:t>
                </a:r>
              </a:p>
              <a:p>
                <a:pPr algn="r"/>
                <a:endParaRPr lang="en-US" altLang="ko-KR" sz="14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400" dirty="0">
                    <a:solidFill>
                      <a:srgbClr val="FF0000"/>
                    </a:solidFill>
                  </a:rPr>
                  <a:t>Sends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0CFE-418E-429B-A189-7B4C11B8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44" y="1892043"/>
                <a:ext cx="5012814" cy="1072088"/>
              </a:xfrm>
              <a:prstGeom prst="rect">
                <a:avLst/>
              </a:prstGeom>
              <a:blipFill>
                <a:blip r:embed="rId2"/>
                <a:stretch>
                  <a:fillRect t="-568" r="-243" b="-34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D6272FB-2E61-4038-AF54-9861895BDE26}"/>
              </a:ext>
            </a:extLst>
          </p:cNvPr>
          <p:cNvCxnSpPr>
            <a:cxnSpLocks/>
          </p:cNvCxnSpPr>
          <p:nvPr/>
        </p:nvCxnSpPr>
        <p:spPr bwMode="auto">
          <a:xfrm>
            <a:off x="1979712" y="3068960"/>
            <a:ext cx="50475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B32161-C4F4-4188-98C6-1970470153C6}"/>
                  </a:ext>
                </a:extLst>
              </p:cNvPr>
              <p:cNvSpPr txBox="1"/>
              <p:nvPr/>
            </p:nvSpPr>
            <p:spPr>
              <a:xfrm>
                <a:off x="1870426" y="4087582"/>
                <a:ext cx="4906792" cy="959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For each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1,⋯,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400" dirty="0"/>
                  <a:t>, Sends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seed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.</a:t>
                </a: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For each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400" dirty="0"/>
                  <a:t>, Sends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state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com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atin typeface="Cambria Math" panose="02040503050406030204" pitchFamily="18" charset="0"/>
                              </a:rPr>
                              <m:t>msg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altLang="ko-KR" sz="1400" dirty="0"/>
                  <a:t>.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B32161-C4F4-4188-98C6-197047015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426" y="4087582"/>
                <a:ext cx="4906792" cy="959237"/>
              </a:xfrm>
              <a:prstGeom prst="rect">
                <a:avLst/>
              </a:prstGeom>
              <a:blipFill>
                <a:blip r:embed="rId3"/>
                <a:stretch>
                  <a:fillRect l="-373" r="-2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0D4A617-1ED3-4C4C-8645-5450C0467CE5}"/>
              </a:ext>
            </a:extLst>
          </p:cNvPr>
          <p:cNvCxnSpPr>
            <a:cxnSpLocks/>
          </p:cNvCxnSpPr>
          <p:nvPr/>
        </p:nvCxnSpPr>
        <p:spPr bwMode="auto">
          <a:xfrm>
            <a:off x="1979712" y="5229200"/>
            <a:ext cx="50475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7A802B-ED82-4B28-8478-7B8102DD3050}"/>
                  </a:ext>
                </a:extLst>
              </p:cNvPr>
              <p:cNvSpPr txBox="1"/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Prover, verifier have circuit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; the prover holds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.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7A802B-ED82-4B28-8478-7B8102DD3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blipFill>
                <a:blip r:embed="rId4"/>
                <a:stretch>
                  <a:fillRect l="-248" t="-1923" r="-124" b="-17308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951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4D77F-6D46-475B-87BE-0F5452A2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AB8BDF-E8E6-4698-9012-B0207C98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961BC0-7339-41A0-8BBD-B47C02AE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39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C4165-083D-4AEC-AF0C-10F5D204B30E}"/>
              </a:ext>
            </a:extLst>
          </p:cNvPr>
          <p:cNvSpPr/>
          <p:nvPr/>
        </p:nvSpPr>
        <p:spPr bwMode="auto">
          <a:xfrm>
            <a:off x="7546040" y="1556798"/>
            <a:ext cx="986400" cy="4451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Verifier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0CFE-418E-429B-A189-7B4C11B87109}"/>
                  </a:ext>
                </a:extLst>
              </p:cNvPr>
              <p:cNvSpPr txBox="1"/>
              <p:nvPr/>
            </p:nvSpPr>
            <p:spPr>
              <a:xfrm>
                <a:off x="596320" y="2081369"/>
                <a:ext cx="6699448" cy="3402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com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state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 Then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com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com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r"/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1,⋯,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seed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Then compute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r"/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, verifier simulates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among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, masked input wire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msg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 </a:t>
                </a:r>
                <a:br>
                  <a:rPr lang="en-US" altLang="ko-KR" sz="1600" dirty="0">
                    <a:solidFill>
                      <a:srgbClr val="FF0000"/>
                    </a:solidFill>
                  </a:rPr>
                </a:br>
                <a:r>
                  <a:rPr lang="en-US" altLang="ko-KR" sz="1600" dirty="0">
                    <a:solidFill>
                      <a:srgbClr val="FF0000"/>
                    </a:solidFill>
                  </a:rPr>
                  <a:t>This yields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msg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and output bit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 Check that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msg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ko-KR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msg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pPr algn="r"/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pPr algn="r"/>
                <a:r>
                  <a:rPr lang="en-US" altLang="ko-KR" sz="1600" dirty="0">
                    <a:solidFill>
                      <a:srgbClr val="FF0000"/>
                    </a:solidFill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and Check that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0CFE-418E-429B-A189-7B4C11B8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20" y="2081369"/>
                <a:ext cx="6699448" cy="3402855"/>
              </a:xfrm>
              <a:prstGeom prst="rect">
                <a:avLst/>
              </a:prstGeom>
              <a:blipFill>
                <a:blip r:embed="rId2"/>
                <a:stretch>
                  <a:fillRect t="-537" r="-1638" b="-1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7A802B-ED82-4B28-8478-7B8102DD3050}"/>
                  </a:ext>
                </a:extLst>
              </p:cNvPr>
              <p:cNvSpPr txBox="1"/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Prover, verifier have circuit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; the prover holds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ko-KR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1400" dirty="0">
                    <a:solidFill>
                      <a:schemeClr val="bg2">
                        <a:lumMod val="10000"/>
                      </a:schemeClr>
                    </a:solidFill>
                  </a:rPr>
                  <a:t>.</a:t>
                </a:r>
                <a:endParaRPr lang="ko-KR" altLang="en-US" sz="1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7A802B-ED82-4B28-8478-7B8102DD3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44" y="1072121"/>
                <a:ext cx="4910511" cy="307777"/>
              </a:xfrm>
              <a:prstGeom prst="rect">
                <a:avLst/>
              </a:prstGeom>
              <a:blipFill>
                <a:blip r:embed="rId3"/>
                <a:stretch>
                  <a:fillRect l="-248" t="-1923" r="-124" b="-17308"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628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3B7E-C458-4827-9A4C-B250BAE6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A7A8BF-B59E-4C8F-BA9F-95C9646DA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sz="1600" dirty="0"/>
                  <a:t>If cheating prover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correct emulations of preprocessing phase,</a:t>
                </a:r>
                <a:br>
                  <a:rPr lang="en-US" altLang="ko-KR" sz="1600" dirty="0"/>
                </a:br>
                <a:r>
                  <a:rPr lang="en-US" altLang="ko-KR" sz="1600" dirty="0"/>
                  <a:t>then its probability of passing the first phase of proof is at most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eqAr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eqArr>
                          </m:e>
                        </m:d>
                      </m:den>
                    </m:f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br>
                  <a:rPr lang="en-US" altLang="ko-KR" sz="1600" dirty="0"/>
                </a:br>
                <a:r>
                  <a:rPr lang="en-US" altLang="ko-KR" sz="1600" dirty="0"/>
                  <a:t>conditioned on passing the first phase, its probability of passing the second phase is at most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br>
                  <a:rPr lang="en-US" altLang="ko-KR" sz="1600" dirty="0"/>
                </a:br>
                <a:r>
                  <a:rPr lang="en-US" altLang="ko-KR" sz="1600" dirty="0"/>
                  <a:t>So, soundness error is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≝</m:t>
                    </m:r>
                    <m:func>
                      <m:func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eqAr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A7A8BF-B59E-4C8F-BA9F-95C9646DA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1A69F7-48EE-482C-829E-E3B71892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DC9F3-ED86-48FA-8F69-B5878B08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40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C51DB7-EABA-4A1A-9B5C-BAA194779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60616"/>
            <a:ext cx="77724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85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F6FE0-5126-45C9-8DED-70E463C4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Improved NIZK [KKW18]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50CD431-E641-4F96-9C41-8C3AEC6D2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ko-KR" dirty="0"/>
                  <a:t>Prover sends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seed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for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dirty="0"/>
                  <a:t>,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com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msg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verifier.</a:t>
                </a:r>
                <a:br>
                  <a:rPr lang="en-US" altLang="ko-KR" dirty="0"/>
                </a:br>
                <a:br>
                  <a:rPr lang="en-US" altLang="ko-KR" dirty="0"/>
                </a:br>
                <a:r>
                  <a:rPr lang="en-US" altLang="ko-KR" dirty="0"/>
                  <a:t>So, the proof size of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</m:d>
                  </m:oMath>
                </a14:m>
                <a:endParaRPr lang="ko-KR" altLang="en-US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50CD431-E641-4F96-9C41-8C3AEC6D2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6B155C-251F-4B14-AA81-BF51CD68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CDEA9A-3B64-403F-94BA-284C2771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41</a:t>
            </a:fld>
            <a:endParaRPr lang="en-US" altLang="ko-KR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005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E4C49-AAE5-422B-BA4D-6EF85AB2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Improved NIZK [KKW18]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A21B82-244E-4A7D-A545-EDEB35B92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3366"/>
                </a:solidFill>
              </a:rPr>
              <a:t>C@mp Lab</a:t>
            </a:r>
            <a:endParaRPr lang="en-US" altLang="ko-KR" dirty="0">
              <a:solidFill>
                <a:srgbClr val="003366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ECC2B4-8A26-4F4C-A1B9-62061C96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30FE-2331-41FD-B08D-3C3EB96D9336}" type="slidenum">
              <a:rPr lang="en-US" altLang="ko-KR" smtClean="0">
                <a:solidFill>
                  <a:srgbClr val="003366"/>
                </a:solidFill>
              </a:rPr>
              <a:pPr/>
              <a:t>42</a:t>
            </a:fld>
            <a:endParaRPr lang="en-US" altLang="ko-KR" dirty="0">
              <a:solidFill>
                <a:srgbClr val="003366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552E6B-F527-49A5-88C6-CB293BBA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1133475"/>
            <a:ext cx="76104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11825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145gl">
  <a:themeElements>
    <a:clrScheme name="sample 3">
      <a:dk1>
        <a:srgbClr val="003366"/>
      </a:dk1>
      <a:lt1>
        <a:srgbClr val="FFFFFF"/>
      </a:lt1>
      <a:dk2>
        <a:srgbClr val="99190B"/>
      </a:dk2>
      <a:lt2>
        <a:srgbClr val="DDDDDD"/>
      </a:lt2>
      <a:accent1>
        <a:srgbClr val="1F63AD"/>
      </a:accent1>
      <a:accent2>
        <a:srgbClr val="D28302"/>
      </a:accent2>
      <a:accent3>
        <a:srgbClr val="FFFFFF"/>
      </a:accent3>
      <a:accent4>
        <a:srgbClr val="002A56"/>
      </a:accent4>
      <a:accent5>
        <a:srgbClr val="ABB7D3"/>
      </a:accent5>
      <a:accent6>
        <a:srgbClr val="BE7602"/>
      </a:accent6>
      <a:hlink>
        <a:srgbClr val="3CA051"/>
      </a:hlink>
      <a:folHlink>
        <a:srgbClr val="97ADB5"/>
      </a:folHlink>
    </a:clrScheme>
    <a:fontScheme name="사용자 지정 1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40297B"/>
        </a:dk2>
        <a:lt2>
          <a:srgbClr val="DDDDDD"/>
        </a:lt2>
        <a:accent1>
          <a:srgbClr val="35978E"/>
        </a:accent1>
        <a:accent2>
          <a:srgbClr val="1E86E4"/>
        </a:accent2>
        <a:accent3>
          <a:srgbClr val="FFFFFF"/>
        </a:accent3>
        <a:accent4>
          <a:srgbClr val="000056"/>
        </a:accent4>
        <a:accent5>
          <a:srgbClr val="AEC9C6"/>
        </a:accent5>
        <a:accent6>
          <a:srgbClr val="1A79CF"/>
        </a:accent6>
        <a:hlink>
          <a:srgbClr val="9CAA32"/>
        </a:hlink>
        <a:folHlink>
          <a:srgbClr val="ACB3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0F5ABD"/>
        </a:dk2>
        <a:lt2>
          <a:srgbClr val="DDDDDD"/>
        </a:lt2>
        <a:accent1>
          <a:srgbClr val="7061C9"/>
        </a:accent1>
        <a:accent2>
          <a:srgbClr val="53BB9B"/>
        </a:accent2>
        <a:accent3>
          <a:srgbClr val="FFFFFF"/>
        </a:accent3>
        <a:accent4>
          <a:srgbClr val="000056"/>
        </a:accent4>
        <a:accent5>
          <a:srgbClr val="BBB7E1"/>
        </a:accent5>
        <a:accent6>
          <a:srgbClr val="4AA98C"/>
        </a:accent6>
        <a:hlink>
          <a:srgbClr val="57B2D7"/>
        </a:hlink>
        <a:folHlink>
          <a:srgbClr val="BCC8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99190B"/>
        </a:dk2>
        <a:lt2>
          <a:srgbClr val="DDDDDD"/>
        </a:lt2>
        <a:accent1>
          <a:srgbClr val="1F63AD"/>
        </a:accent1>
        <a:accent2>
          <a:srgbClr val="D28302"/>
        </a:accent2>
        <a:accent3>
          <a:srgbClr val="FFFFFF"/>
        </a:accent3>
        <a:accent4>
          <a:srgbClr val="002A56"/>
        </a:accent4>
        <a:accent5>
          <a:srgbClr val="ABB7D3"/>
        </a:accent5>
        <a:accent6>
          <a:srgbClr val="BE7602"/>
        </a:accent6>
        <a:hlink>
          <a:srgbClr val="3CA051"/>
        </a:hlink>
        <a:folHlink>
          <a:srgbClr val="97ADB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41051</TotalTime>
  <Words>2024</Words>
  <Application>Microsoft Office PowerPoint</Application>
  <PresentationFormat>화면 슬라이드 쇼(4:3)</PresentationFormat>
  <Paragraphs>515</Paragraphs>
  <Slides>42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0" baseType="lpstr">
      <vt:lpstr>맑은 고딕</vt:lpstr>
      <vt:lpstr>Arial</vt:lpstr>
      <vt:lpstr>Cambria Math</vt:lpstr>
      <vt:lpstr>Rage Italic</vt:lpstr>
      <vt:lpstr>Times New Roman</vt:lpstr>
      <vt:lpstr>Verdana</vt:lpstr>
      <vt:lpstr>Wingdings</vt:lpstr>
      <vt:lpstr>cdb2004145gl</vt:lpstr>
      <vt:lpstr>Post-Quantum Zero-Knowledge and Signatures from Symmetric-Key Primitives</vt:lpstr>
      <vt:lpstr>Reference</vt:lpstr>
      <vt:lpstr>Reference</vt:lpstr>
      <vt:lpstr>Σ-protocol</vt:lpstr>
      <vt:lpstr>Secure Multiparty Computation (MPC)</vt:lpstr>
      <vt:lpstr>Secure Multiparty Computation (MPC)</vt:lpstr>
      <vt:lpstr>Secure Multiparty Computation (MPC)</vt:lpstr>
      <vt:lpstr>ZK from MPC</vt:lpstr>
      <vt:lpstr>ZK from MPC</vt:lpstr>
      <vt:lpstr>ZK from MPC</vt:lpstr>
      <vt:lpstr>ZK from MPC</vt:lpstr>
      <vt:lpstr>ZK from MPC</vt:lpstr>
      <vt:lpstr>ZKBoo</vt:lpstr>
      <vt:lpstr>ZKBoo</vt:lpstr>
      <vt:lpstr>ZKBoo</vt:lpstr>
      <vt:lpstr>ZKBoo</vt:lpstr>
      <vt:lpstr>ZKBoo</vt:lpstr>
      <vt:lpstr>ZKBoo</vt:lpstr>
      <vt:lpstr>ZKBoo</vt:lpstr>
      <vt:lpstr>ZKBoo</vt:lpstr>
      <vt:lpstr>ZKBoo</vt:lpstr>
      <vt:lpstr>ZKBoo → ZKB++</vt:lpstr>
      <vt:lpstr>ZKBoo → ZKB++</vt:lpstr>
      <vt:lpstr>ZKBoo → ZKB++</vt:lpstr>
      <vt:lpstr>ZKBoo → ZKB++</vt:lpstr>
      <vt:lpstr>ZKB++</vt:lpstr>
      <vt:lpstr>ZKB++</vt:lpstr>
      <vt:lpstr>ZKB++</vt:lpstr>
      <vt:lpstr>ZKB++</vt:lpstr>
      <vt:lpstr>Fish signature</vt:lpstr>
      <vt:lpstr>Picnic signature</vt:lpstr>
      <vt:lpstr>Picnic signature</vt:lpstr>
      <vt:lpstr>Fish / Picnic signature</vt:lpstr>
      <vt:lpstr>Improved NIZK [KKW18]</vt:lpstr>
      <vt:lpstr>Improved NIZK [KKW18]</vt:lpstr>
      <vt:lpstr>Improved NIZK [KKW18]</vt:lpstr>
      <vt:lpstr>Improved NIZK [KKW18]</vt:lpstr>
      <vt:lpstr>Improved NIZK [KKW18]</vt:lpstr>
      <vt:lpstr>Improved NIZK [KKW18]</vt:lpstr>
      <vt:lpstr>Improved NIZK [KKW18]</vt:lpstr>
      <vt:lpstr>Improved NIZK [KKW18]</vt:lpstr>
      <vt:lpstr>Improved NIZK [KKW18]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math</dc:creator>
  <cp:lastModifiedBy>Do Won Park</cp:lastModifiedBy>
  <cp:revision>1253</cp:revision>
  <cp:lastPrinted>2019-12-03T02:17:46Z</cp:lastPrinted>
  <dcterms:created xsi:type="dcterms:W3CDTF">2013-01-28T10:03:29Z</dcterms:created>
  <dcterms:modified xsi:type="dcterms:W3CDTF">2019-12-12T15:09:42Z</dcterms:modified>
</cp:coreProperties>
</file>