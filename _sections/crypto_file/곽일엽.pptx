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349" r:id="rId3"/>
    <p:sldId id="350" r:id="rId4"/>
    <p:sldId id="319" r:id="rId5"/>
    <p:sldId id="343" r:id="rId6"/>
    <p:sldId id="352" r:id="rId7"/>
    <p:sldId id="378" r:id="rId8"/>
    <p:sldId id="353" r:id="rId9"/>
    <p:sldId id="354" r:id="rId10"/>
    <p:sldId id="356" r:id="rId11"/>
    <p:sldId id="357" r:id="rId12"/>
    <p:sldId id="355" r:id="rId13"/>
    <p:sldId id="358" r:id="rId14"/>
    <p:sldId id="360" r:id="rId15"/>
    <p:sldId id="369" r:id="rId16"/>
    <p:sldId id="359" r:id="rId17"/>
    <p:sldId id="361" r:id="rId18"/>
    <p:sldId id="362" r:id="rId19"/>
    <p:sldId id="383" r:id="rId20"/>
    <p:sldId id="384" r:id="rId21"/>
    <p:sldId id="344" r:id="rId22"/>
    <p:sldId id="363" r:id="rId23"/>
    <p:sldId id="386" r:id="rId24"/>
    <p:sldId id="385" r:id="rId25"/>
    <p:sldId id="370" r:id="rId26"/>
    <p:sldId id="382" r:id="rId27"/>
    <p:sldId id="381" r:id="rId28"/>
    <p:sldId id="346" r:id="rId29"/>
    <p:sldId id="365" r:id="rId30"/>
    <p:sldId id="366" r:id="rId31"/>
    <p:sldId id="367" r:id="rId32"/>
    <p:sldId id="368" r:id="rId33"/>
    <p:sldId id="371" r:id="rId34"/>
    <p:sldId id="387" r:id="rId35"/>
    <p:sldId id="388" r:id="rId36"/>
    <p:sldId id="373" r:id="rId37"/>
    <p:sldId id="374" r:id="rId38"/>
    <p:sldId id="377" r:id="rId39"/>
    <p:sldId id="28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72"/>
    <p:restoredTop sz="94665"/>
  </p:normalViewPr>
  <p:slideViewPr>
    <p:cSldViewPr snapToGrid="0" snapToObjects="1">
      <p:cViewPr>
        <p:scale>
          <a:sx n="107" d="100"/>
          <a:sy n="107" d="100"/>
        </p:scale>
        <p:origin x="25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48C07-A606-6542-B7F1-848A61E86833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567E8-4C79-BB4E-9560-31CFC8E4E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9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3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71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35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96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32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14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50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91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7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5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58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13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92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17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5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0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5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8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4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8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9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5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7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FA554-391E-B441-A881-5D9DAB30F6DF}" type="datetimeFigureOut">
              <a:rPr lang="en-US" smtClean="0"/>
              <a:t>10/27/19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8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3" Type="http://schemas.openxmlformats.org/officeDocument/2006/relationships/hyperlink" Target="https://www.youtube.com/watch?v=Cl-m4X3rwac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2966" y="1478280"/>
            <a:ext cx="9345881" cy="1397922"/>
          </a:xfrm>
        </p:spPr>
        <p:txBody>
          <a:bodyPr>
            <a:normAutofit fontScale="90000"/>
          </a:bodyPr>
          <a:lstStyle/>
          <a:p>
            <a:pPr algn="l"/>
            <a:r>
              <a:rPr lang="en-US" sz="5500" b="1" dirty="0" smtClean="0">
                <a:latin typeface="Arial" charset="0"/>
                <a:ea typeface="Arial" charset="0"/>
                <a:cs typeface="Arial" charset="0"/>
              </a:rPr>
              <a:t>Deep Learning Methods in Spoof Detection Challenges</a:t>
            </a:r>
            <a:endParaRPr lang="en-US" sz="55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03120"/>
            <a:ext cx="9144000" cy="1655762"/>
          </a:xfrm>
        </p:spPr>
        <p:txBody>
          <a:bodyPr>
            <a:normAutofit/>
          </a:bodyPr>
          <a:lstStyle/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altLang="ko-KR" b="1" dirty="0" smtClean="0">
                <a:latin typeface="Arial" charset="0"/>
                <a:ea typeface="Arial" charset="0"/>
                <a:cs typeface="Arial" charset="0"/>
              </a:rPr>
              <a:t>Il-Youp Kwak</a:t>
            </a:r>
            <a:endParaRPr lang="en-US" altLang="ko-KR" b="1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altLang="ko-KR" dirty="0" smtClean="0">
                <a:latin typeface="Arial" charset="0"/>
                <a:ea typeface="Arial" charset="0"/>
                <a:cs typeface="Arial" charset="0"/>
              </a:rPr>
              <a:t>Chung-</a:t>
            </a:r>
            <a:r>
              <a:rPr lang="en-US" altLang="ko-KR" dirty="0" err="1" smtClean="0">
                <a:latin typeface="Arial" charset="0"/>
                <a:ea typeface="Arial" charset="0"/>
                <a:cs typeface="Arial" charset="0"/>
              </a:rPr>
              <a:t>Ang</a:t>
            </a:r>
            <a:r>
              <a:rPr lang="en-US" altLang="ko-KR" dirty="0" smtClean="0">
                <a:latin typeface="Arial" charset="0"/>
                <a:ea typeface="Arial" charset="0"/>
                <a:cs typeface="Arial" charset="0"/>
              </a:rPr>
              <a:t> University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21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163340"/>
            <a:ext cx="95859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Emergence </a:t>
            </a:r>
            <a:r>
              <a:rPr lang="en-US" altLang="ko-KR" sz="3800" b="1" dirty="0">
                <a:latin typeface="Arial" charset="0"/>
                <a:ea typeface="Arial" charset="0"/>
                <a:cs typeface="Arial" charset="0"/>
              </a:rPr>
              <a:t>of Voice assistants</a:t>
            </a: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:</a:t>
            </a:r>
            <a:endParaRPr lang="en-US" sz="3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367300"/>
            <a:ext cx="1219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>
                <a:latin typeface="Arial" charset="0"/>
                <a:ea typeface="Arial" charset="0"/>
                <a:cs typeface="Arial" charset="0"/>
              </a:rPr>
              <a:t>Samsung Bixby, Apple Siri, Amazon Alexa, </a:t>
            </a:r>
            <a:r>
              <a:rPr lang="en-US" sz="3800" dirty="0" err="1">
                <a:latin typeface="Arial" charset="0"/>
                <a:ea typeface="Arial" charset="0"/>
                <a:cs typeface="Arial" charset="0"/>
              </a:rPr>
              <a:t>etc</a:t>
            </a:r>
            <a:endParaRPr lang="en-US" sz="38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36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822220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>
                <a:latin typeface="+mj-ea"/>
              </a:rPr>
              <a:t>Voice assistants now support security-critical commands, making them attractive target for adversaries </a:t>
            </a:r>
            <a:r>
              <a:rPr lang="en-US" altLang="ko-KR" sz="4000" b="1">
                <a:latin typeface="+mj-ea"/>
              </a:rPr>
              <a:t>to </a:t>
            </a:r>
            <a:r>
              <a:rPr lang="en-US" altLang="ko-KR" sz="4000" b="1" smtClean="0">
                <a:latin typeface="+mj-ea"/>
              </a:rPr>
              <a:t>exploit</a:t>
            </a:r>
            <a:endParaRPr lang="en-US" altLang="ko-KR" sz="4000" b="1">
              <a:latin typeface="+mj-ea"/>
            </a:endParaRPr>
          </a:p>
        </p:txBody>
      </p:sp>
      <p:pic>
        <p:nvPicPr>
          <p:cNvPr id="1026" name="Picture 2" descr="ë§ì¡´ ìì½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385" y="3599412"/>
            <a:ext cx="5911215" cy="281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xby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9" y="3599412"/>
            <a:ext cx="4234691" cy="281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0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10414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Threat Model</a:t>
            </a:r>
            <a:endParaRPr lang="en-US" altLang="ko-KR" sz="3500" b="1" dirty="0" smtClean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56" y="848495"/>
            <a:ext cx="5149685" cy="6009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71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2883" y="740375"/>
            <a:ext cx="7515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rial" charset="0"/>
                <a:ea typeface="Arial" charset="0"/>
                <a:cs typeface="Arial" charset="0"/>
              </a:rPr>
              <a:t>How to solve it?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536641"/>
            <a:ext cx="1024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1.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Voice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Biometric Authentication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519797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2.</a:t>
            </a:r>
            <a:r>
              <a:rPr lang="ko-KR" altLang="en-US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Voice Liveness Detection</a:t>
            </a:r>
            <a:endParaRPr lang="en-US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49515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3</a:t>
            </a:r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ko-KR" altLang="en-US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>
                <a:solidFill>
                  <a:srgbClr val="FF0000"/>
                </a:solidFill>
                <a:latin typeface="+mj-ea"/>
              </a:rPr>
              <a:t>Voice-Command based Attack </a:t>
            </a:r>
            <a:r>
              <a:rPr lang="en-US" altLang="ko-KR" sz="3200" b="1" dirty="0" smtClean="0">
                <a:solidFill>
                  <a:srgbClr val="FF0000"/>
                </a:solidFill>
                <a:latin typeface="+mj-ea"/>
              </a:rPr>
              <a:t>Detection</a:t>
            </a:r>
            <a:endParaRPr lang="en-US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8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91735"/>
            <a:ext cx="11186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mtClean="0">
                <a:latin typeface="Arial" charset="0"/>
                <a:ea typeface="Arial" charset="0"/>
                <a:cs typeface="Arial" charset="0"/>
              </a:rPr>
              <a:t>Voice-Command based Attack Detection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0" y="1063371"/>
            <a:ext cx="9359900" cy="57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5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91735"/>
            <a:ext cx="11186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mtClean="0">
                <a:latin typeface="Arial" charset="0"/>
                <a:ea typeface="Arial" charset="0"/>
                <a:cs typeface="Arial" charset="0"/>
              </a:rPr>
              <a:t>Voice-Command based Attack Detection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503" y="2596018"/>
            <a:ext cx="119663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Can </a:t>
            </a:r>
            <a:r>
              <a:rPr lang="en-US" altLang="ko-KR" sz="3500" b="1" dirty="0">
                <a:latin typeface="Arial" charset="0"/>
                <a:ea typeface="Arial" charset="0"/>
                <a:cs typeface="Arial" charset="0"/>
              </a:rPr>
              <a:t>be used as an effective complementary </a:t>
            </a:r>
            <a:r>
              <a:rPr lang="en-US" altLang="ko-KR" sz="3500" b="1">
                <a:latin typeface="Arial" charset="0"/>
                <a:ea typeface="Arial" charset="0"/>
                <a:cs typeface="Arial" charset="0"/>
              </a:rPr>
              <a:t>technology </a:t>
            </a:r>
            <a:r>
              <a:rPr lang="en-US" altLang="ko-KR" sz="3500" b="1" smtClean="0">
                <a:latin typeface="Arial" charset="0"/>
                <a:ea typeface="Arial" charset="0"/>
                <a:cs typeface="Arial" charset="0"/>
              </a:rPr>
              <a:t>to</a:t>
            </a: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500" b="1" smtClean="0">
                <a:latin typeface="Arial" charset="0"/>
                <a:ea typeface="Arial" charset="0"/>
                <a:cs typeface="Arial" charset="0"/>
              </a:rPr>
              <a:t>further </a:t>
            </a:r>
            <a:r>
              <a:rPr lang="en-US" altLang="ko-KR" sz="3500" b="1" dirty="0">
                <a:latin typeface="Arial" charset="0"/>
                <a:ea typeface="Arial" charset="0"/>
                <a:cs typeface="Arial" charset="0"/>
              </a:rPr>
              <a:t>enhance voice attack detection </a:t>
            </a: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accuracy</a:t>
            </a:r>
            <a:endParaRPr lang="en-US" altLang="ko-KR" sz="35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21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91735"/>
            <a:ext cx="11186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rial" charset="0"/>
                <a:ea typeface="Arial" charset="0"/>
                <a:cs typeface="Arial" charset="0"/>
              </a:rPr>
              <a:t>Voice Liveness Detection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799" y="1517196"/>
            <a:ext cx="8424190" cy="22606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799" y="4062276"/>
            <a:ext cx="8424190" cy="22606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27814" y="1517196"/>
            <a:ext cx="2941320" cy="2260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72612" y="2576099"/>
            <a:ext cx="3555587" cy="1492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032" y="2320431"/>
            <a:ext cx="1361270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b="1" dirty="0" smtClean="0">
                <a:latin typeface="Arial" charset="0"/>
                <a:ea typeface="Arial" charset="0"/>
                <a:cs typeface="Arial" charset="0"/>
              </a:rPr>
              <a:t>Genuine</a:t>
            </a:r>
            <a:endParaRPr lang="en-US" sz="2300" dirty="0"/>
          </a:p>
        </p:txBody>
      </p:sp>
      <p:sp>
        <p:nvSpPr>
          <p:cNvPr id="9" name="Rectangle 8"/>
          <p:cNvSpPr/>
          <p:nvPr/>
        </p:nvSpPr>
        <p:spPr>
          <a:xfrm>
            <a:off x="556783" y="4805453"/>
            <a:ext cx="101822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b="1" dirty="0" smtClean="0">
                <a:latin typeface="Arial" charset="0"/>
                <a:ea typeface="Arial" charset="0"/>
                <a:cs typeface="Arial" charset="0"/>
              </a:rPr>
              <a:t>Spoof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6037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939883"/>
            <a:ext cx="111861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Use </a:t>
            </a:r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of 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wearable devices</a:t>
            </a:r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, such as eyeglasses, earbuds, or necklaces, to 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detect voice </a:t>
            </a:r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liveness. 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507425"/>
            <a:ext cx="111861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Their </a:t>
            </a:r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approaches check for the presence of</a:t>
            </a:r>
          </a:p>
          <a:p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users’ physical body and muscle 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movements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4110594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700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R</a:t>
            </a:r>
            <a:r>
              <a:rPr lang="en-US" altLang="ko-KR" sz="37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ely </a:t>
            </a:r>
            <a:r>
              <a:rPr lang="en-US" altLang="ko-KR" sz="3700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on </a:t>
            </a:r>
            <a:r>
              <a:rPr lang="en-US" altLang="ko-KR" sz="37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users physically </a:t>
            </a:r>
            <a:r>
              <a:rPr lang="en-US" altLang="ko-KR" sz="3700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holding their </a:t>
            </a:r>
            <a:r>
              <a:rPr lang="en-US" altLang="ko-KR" sz="37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devices</a:t>
            </a:r>
            <a:endParaRPr lang="en-US" altLang="ko-KR" sz="37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19448" y="5431000"/>
            <a:ext cx="9254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charset="0"/>
              </a:rPr>
              <a:t>Feng et al. (2017) Continuous authentication </a:t>
            </a:r>
            <a:r>
              <a:rPr lang="en-US" dirty="0">
                <a:latin typeface="Arial" charset="0"/>
              </a:rPr>
              <a:t>for voice assistants. </a:t>
            </a:r>
            <a:endParaRPr lang="en-US" b="0" i="0" dirty="0">
              <a:effectLst/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9448" y="5800332"/>
            <a:ext cx="9432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charset="0"/>
              </a:rPr>
              <a:t>Liu et al. (2018) </a:t>
            </a:r>
            <a:r>
              <a:rPr lang="en-US" dirty="0">
                <a:latin typeface="Arial" charset="0"/>
              </a:rPr>
              <a:t>Vocal Resonance: Using Internal Body Voice </a:t>
            </a:r>
            <a:r>
              <a:rPr lang="en-US" dirty="0" smtClean="0">
                <a:latin typeface="Arial" charset="0"/>
              </a:rPr>
              <a:t>for Wearable </a:t>
            </a:r>
            <a:r>
              <a:rPr lang="en-US" dirty="0">
                <a:latin typeface="Arial" charset="0"/>
              </a:rPr>
              <a:t>Authentication</a:t>
            </a:r>
            <a:r>
              <a:rPr lang="en-US" dirty="0" smtClean="0">
                <a:latin typeface="Arial" charset="0"/>
              </a:rPr>
              <a:t>.</a:t>
            </a:r>
            <a:endParaRPr lang="en-US" dirty="0"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19448" y="6169664"/>
            <a:ext cx="9432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charset="0"/>
              </a:rPr>
              <a:t>Zhang et al. (2017) </a:t>
            </a:r>
            <a:r>
              <a:rPr lang="en-US" dirty="0">
                <a:latin typeface="Arial" charset="0"/>
              </a:rPr>
              <a:t>Hearing your voice </a:t>
            </a:r>
            <a:r>
              <a:rPr lang="en-US" dirty="0" smtClean="0">
                <a:latin typeface="Arial" charset="0"/>
              </a:rPr>
              <a:t>is not </a:t>
            </a:r>
            <a:r>
              <a:rPr lang="en-US" dirty="0">
                <a:latin typeface="Arial" charset="0"/>
              </a:rPr>
              <a:t>enough: </a:t>
            </a:r>
            <a:r>
              <a:rPr lang="en-US" dirty="0" smtClean="0">
                <a:latin typeface="Arial" charset="0"/>
              </a:rPr>
              <a:t>An articulatory </a:t>
            </a:r>
            <a:r>
              <a:rPr lang="en-US" dirty="0">
                <a:latin typeface="Arial" charset="0"/>
              </a:rPr>
              <a:t>gesture based liveness detection for </a:t>
            </a:r>
            <a:r>
              <a:rPr lang="en-US" dirty="0" smtClean="0">
                <a:latin typeface="Arial" charset="0"/>
              </a:rPr>
              <a:t>voice authentication. </a:t>
            </a: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2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4388" y="822486"/>
            <a:ext cx="111546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Many researchers </a:t>
            </a:r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have proposed machine learning-based liveness 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detection </a:t>
            </a:r>
            <a:r>
              <a:rPr lang="en-US" altLang="ko-KR" sz="3700" b="1" dirty="0">
                <a:latin typeface="Arial" charset="0"/>
                <a:ea typeface="Arial" charset="0"/>
                <a:cs typeface="Arial" charset="0"/>
              </a:rPr>
              <a:t>solutions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.</a:t>
            </a:r>
            <a:endParaRPr lang="en-US" altLang="ko-KR" sz="37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0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err="1" smtClean="0">
                <a:latin typeface="Arial" charset="0"/>
                <a:ea typeface="Arial" charset="0"/>
                <a:cs typeface="Arial" charset="0"/>
              </a:rPr>
              <a:t>ASVspoof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 Challenge Task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4388" y="5727881"/>
            <a:ext cx="116576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charset="0"/>
              </a:rPr>
              <a:t>Wu et al. (2015) </a:t>
            </a:r>
            <a:r>
              <a:rPr lang="en-US" dirty="0" err="1">
                <a:latin typeface="Arial" charset="0"/>
              </a:rPr>
              <a:t>Asvspoof</a:t>
            </a:r>
            <a:r>
              <a:rPr lang="en-US" dirty="0">
                <a:latin typeface="Arial" charset="0"/>
              </a:rPr>
              <a:t> 2015: The first </a:t>
            </a:r>
            <a:r>
              <a:rPr lang="en-US" dirty="0" smtClean="0">
                <a:latin typeface="Arial" charset="0"/>
              </a:rPr>
              <a:t>automatic speaker </a:t>
            </a:r>
            <a:r>
              <a:rPr lang="en-US" dirty="0">
                <a:latin typeface="Arial" charset="0"/>
              </a:rPr>
              <a:t>verification spoofing and countermeasures </a:t>
            </a:r>
            <a:r>
              <a:rPr lang="en-US" dirty="0" smtClean="0">
                <a:latin typeface="Arial" charset="0"/>
              </a:rPr>
              <a:t>challenge</a:t>
            </a:r>
            <a:endParaRPr lang="en-US" b="0" i="0" dirty="0">
              <a:effectLst/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4389" y="6097213"/>
            <a:ext cx="116576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Arial" charset="0"/>
              </a:rPr>
              <a:t>Kinnunen</a:t>
            </a:r>
            <a:r>
              <a:rPr lang="en-US" dirty="0" smtClean="0">
                <a:latin typeface="Arial" charset="0"/>
              </a:rPr>
              <a:t> et al. (2017) The </a:t>
            </a:r>
            <a:r>
              <a:rPr lang="en-US" dirty="0" err="1">
                <a:latin typeface="Arial" charset="0"/>
              </a:rPr>
              <a:t>asvspoof</a:t>
            </a:r>
            <a:r>
              <a:rPr lang="en-US" dirty="0">
                <a:latin typeface="Arial" charset="0"/>
              </a:rPr>
              <a:t> 2017 challenge: </a:t>
            </a:r>
            <a:r>
              <a:rPr lang="en-US" dirty="0" smtClean="0">
                <a:latin typeface="Arial" charset="0"/>
              </a:rPr>
              <a:t>Assessing </a:t>
            </a:r>
            <a:r>
              <a:rPr lang="en-US" dirty="0">
                <a:latin typeface="Arial" charset="0"/>
              </a:rPr>
              <a:t>the limits of replay spoofing attack </a:t>
            </a:r>
            <a:r>
              <a:rPr lang="en-US" dirty="0" smtClean="0">
                <a:latin typeface="Arial" charset="0"/>
              </a:rPr>
              <a:t>detection</a:t>
            </a:r>
            <a:endParaRPr lang="en-US" dirty="0"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4389" y="6466545"/>
            <a:ext cx="116576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charset="0"/>
              </a:rPr>
              <a:t>Todisco et al (2019) </a:t>
            </a:r>
            <a:r>
              <a:rPr lang="en-US" dirty="0" err="1" smtClean="0">
                <a:latin typeface="Arial" charset="0"/>
              </a:rPr>
              <a:t>ASVspoof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2019: Future Horizons </a:t>
            </a:r>
            <a:r>
              <a:rPr lang="en-US" dirty="0" smtClean="0">
                <a:latin typeface="Arial" charset="0"/>
              </a:rPr>
              <a:t>in Spoofed </a:t>
            </a:r>
            <a:r>
              <a:rPr lang="en-US" dirty="0">
                <a:latin typeface="Arial" charset="0"/>
              </a:rPr>
              <a:t>and Fake Audio </a:t>
            </a:r>
            <a:r>
              <a:rPr lang="en-US" dirty="0" smtClean="0">
                <a:latin typeface="Arial" charset="0"/>
              </a:rPr>
              <a:t>Detection</a:t>
            </a:r>
            <a:endParaRPr lang="en-US" dirty="0"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59" y="2225274"/>
            <a:ext cx="9187543" cy="288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6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0629" y="700534"/>
            <a:ext cx="118990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300" b="1" dirty="0">
                <a:latin typeface="Arial" charset="0"/>
                <a:ea typeface="Arial" charset="0"/>
                <a:cs typeface="Arial" charset="0"/>
              </a:rPr>
              <a:t>Equal </a:t>
            </a:r>
            <a:r>
              <a:rPr lang="en-US" altLang="ko-KR" sz="3300" b="1" smtClean="0">
                <a:latin typeface="Arial" charset="0"/>
                <a:ea typeface="Arial" charset="0"/>
                <a:cs typeface="Arial" charset="0"/>
              </a:rPr>
              <a:t>Error Rate </a:t>
            </a:r>
            <a:r>
              <a:rPr lang="en-US" altLang="ko-KR" sz="3300" b="1" dirty="0">
                <a:latin typeface="Arial" charset="0"/>
                <a:ea typeface="Arial" charset="0"/>
                <a:cs typeface="Arial" charset="0"/>
              </a:rPr>
              <a:t>(EER) of replay-</a:t>
            </a:r>
            <a:r>
              <a:rPr lang="en-US" altLang="ko-KR" sz="3300" b="1" dirty="0" err="1">
                <a:latin typeface="Arial" charset="0"/>
                <a:ea typeface="Arial" charset="0"/>
                <a:cs typeface="Arial" charset="0"/>
              </a:rPr>
              <a:t>nonreplay</a:t>
            </a:r>
            <a:r>
              <a:rPr lang="en-US" altLang="ko-KR" sz="3300" b="1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300" b="1" dirty="0" smtClean="0">
                <a:latin typeface="Arial" charset="0"/>
                <a:ea typeface="Arial" charset="0"/>
                <a:cs typeface="Arial" charset="0"/>
              </a:rPr>
              <a:t>discrimination</a:t>
            </a:r>
            <a:endParaRPr lang="en-US" altLang="ko-KR" sz="33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0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Evaluation Metric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050" name="Picture 2" descr="ER equal error rate distribution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473" y="1482014"/>
            <a:ext cx="6567054" cy="53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2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7359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Datasets (2017)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63" y="780250"/>
            <a:ext cx="8994074" cy="608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7359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Summary of Top 10 Systems (2017)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360" y="755006"/>
            <a:ext cx="9487279" cy="610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1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7359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Summary of Top 10 Systems (2019)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377538"/>
            <a:ext cx="5025808" cy="46907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550" y="1377537"/>
            <a:ext cx="5007196" cy="46907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36915" y="6329547"/>
            <a:ext cx="1282535" cy="4172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Grey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22096" y="6377232"/>
            <a:ext cx="2634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Arial" charset="0"/>
                <a:ea typeface="Arial" charset="0"/>
                <a:cs typeface="Arial" charset="0"/>
              </a:rPr>
              <a:t>Used Neural Networks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02920" y="936952"/>
            <a:ext cx="5025808" cy="4770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500" b="1" smtClean="0">
                <a:latin typeface="Arial" charset="0"/>
                <a:ea typeface="Arial" charset="0"/>
                <a:cs typeface="Arial" charset="0"/>
              </a:rPr>
              <a:t>LA scenario</a:t>
            </a:r>
            <a:endParaRPr lang="en-US" sz="2500" dirty="0"/>
          </a:p>
        </p:txBody>
      </p:sp>
      <p:sp>
        <p:nvSpPr>
          <p:cNvPr id="9" name="Rectangle 8"/>
          <p:cNvSpPr/>
          <p:nvPr/>
        </p:nvSpPr>
        <p:spPr>
          <a:xfrm>
            <a:off x="6186550" y="936952"/>
            <a:ext cx="5007196" cy="4770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latin typeface="Arial" charset="0"/>
                <a:ea typeface="Arial" charset="0"/>
                <a:cs typeface="Arial" charset="0"/>
              </a:rPr>
              <a:t>P</a:t>
            </a:r>
            <a:r>
              <a:rPr lang="en-US" altLang="ko-KR" sz="2500" b="1" dirty="0" smtClean="0">
                <a:latin typeface="Arial" charset="0"/>
                <a:ea typeface="Arial" charset="0"/>
                <a:cs typeface="Arial" charset="0"/>
              </a:rPr>
              <a:t>A scenario</a:t>
            </a:r>
            <a:endParaRPr lang="en-US" sz="2500" dirty="0"/>
          </a:p>
        </p:txBody>
      </p:sp>
      <p:sp>
        <p:nvSpPr>
          <p:cNvPr id="10" name="Rectangle 9"/>
          <p:cNvSpPr/>
          <p:nvPr/>
        </p:nvSpPr>
        <p:spPr>
          <a:xfrm>
            <a:off x="502920" y="6031824"/>
            <a:ext cx="5025808" cy="1077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en-US" sz="100" dirty="0"/>
          </a:p>
        </p:txBody>
      </p:sp>
      <p:sp>
        <p:nvSpPr>
          <p:cNvPr id="11" name="Rectangle 10"/>
          <p:cNvSpPr/>
          <p:nvPr/>
        </p:nvSpPr>
        <p:spPr>
          <a:xfrm>
            <a:off x="6176752" y="6031824"/>
            <a:ext cx="5025808" cy="1077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en-US" sz="100" dirty="0"/>
          </a:p>
        </p:txBody>
      </p:sp>
      <p:sp>
        <p:nvSpPr>
          <p:cNvPr id="12" name="Rectangle 11"/>
          <p:cNvSpPr/>
          <p:nvPr/>
        </p:nvSpPr>
        <p:spPr>
          <a:xfrm rot="16200000">
            <a:off x="8699454" y="3634522"/>
            <a:ext cx="5025808" cy="1077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en-US" sz="100" dirty="0"/>
          </a:p>
        </p:txBody>
      </p:sp>
      <p:sp>
        <p:nvSpPr>
          <p:cNvPr id="13" name="Rectangle 12"/>
          <p:cNvSpPr/>
          <p:nvPr/>
        </p:nvSpPr>
        <p:spPr>
          <a:xfrm rot="16200000">
            <a:off x="3043858" y="3634522"/>
            <a:ext cx="5025808" cy="1077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en-US" sz="100" dirty="0"/>
          </a:p>
        </p:txBody>
      </p:sp>
      <p:sp>
        <p:nvSpPr>
          <p:cNvPr id="14" name="Rectangle 13"/>
          <p:cNvSpPr/>
          <p:nvPr/>
        </p:nvSpPr>
        <p:spPr>
          <a:xfrm>
            <a:off x="6329547" y="6329547"/>
            <a:ext cx="1282535" cy="4172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Bold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14728" y="6377232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Arial" charset="0"/>
                <a:ea typeface="Arial" charset="0"/>
                <a:cs typeface="Arial" charset="0"/>
              </a:rPr>
              <a:t>Used Ensemble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0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33" y="224495"/>
            <a:ext cx="8376355" cy="66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91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886378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Top methods in </a:t>
            </a:r>
            <a:r>
              <a:rPr lang="en-US" altLang="ko-KR" sz="3700" b="1" dirty="0" err="1" smtClean="0">
                <a:latin typeface="Arial" charset="0"/>
                <a:ea typeface="Arial" charset="0"/>
                <a:cs typeface="Arial" charset="0"/>
              </a:rPr>
              <a:t>ASVspoof</a:t>
            </a:r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 2019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709823"/>
            <a:ext cx="12089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1.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LCNN using CQT and STFT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59975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2.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SENet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using CQT and STFT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68831" y="6115791"/>
            <a:ext cx="9223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rial" charset="0"/>
              </a:rPr>
              <a:t>Lavrentyeva</a:t>
            </a:r>
            <a:r>
              <a:rPr lang="en-US" dirty="0">
                <a:latin typeface="Arial" charset="0"/>
              </a:rPr>
              <a:t> </a:t>
            </a:r>
            <a:r>
              <a:rPr lang="en-US" dirty="0" smtClean="0">
                <a:latin typeface="Arial" charset="0"/>
              </a:rPr>
              <a:t>et al. (2019) </a:t>
            </a:r>
            <a:r>
              <a:rPr lang="en-US" dirty="0">
                <a:latin typeface="Arial" charset="0"/>
              </a:rPr>
              <a:t>STC </a:t>
            </a:r>
            <a:r>
              <a:rPr lang="en-US" dirty="0" err="1">
                <a:latin typeface="Arial" charset="0"/>
              </a:rPr>
              <a:t>Antispoofing</a:t>
            </a:r>
            <a:r>
              <a:rPr lang="en-US" dirty="0">
                <a:latin typeface="Arial" charset="0"/>
              </a:rPr>
              <a:t> Systems for the ASVspoof2019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8831" y="6488668"/>
            <a:ext cx="9223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latin typeface="Arial" charset="0"/>
              </a:rPr>
              <a:t>Lai </a:t>
            </a:r>
            <a:r>
              <a:rPr lang="en-US" dirty="0" smtClean="0">
                <a:latin typeface="Arial" charset="0"/>
              </a:rPr>
              <a:t>et al. (2019</a:t>
            </a:r>
            <a:r>
              <a:rPr lang="en-US" dirty="0">
                <a:latin typeface="Arial" charset="0"/>
              </a:rPr>
              <a:t>) ASSERT: Anti-Spoofing with Squeeze-Excitation and Residual Networks</a:t>
            </a:r>
          </a:p>
        </p:txBody>
      </p:sp>
    </p:spTree>
    <p:extLst>
      <p:ext uri="{BB962C8B-B14F-4D97-AF65-F5344CB8AC3E}">
        <p14:creationId xmlns:p14="http://schemas.microsoft.com/office/powerpoint/2010/main" val="77864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7359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STFT Feature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074" name="Picture 2" descr="´ë ¨ ì´ë¯¸ì§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445" y="794081"/>
            <a:ext cx="9839110" cy="563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91854" y="6488668"/>
            <a:ext cx="4899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https://www.youtube.com/watch?v=Cl-m4X3rwac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45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7359"/>
            <a:ext cx="111861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700" b="1" dirty="0" smtClean="0">
                <a:latin typeface="Arial" charset="0"/>
                <a:ea typeface="Arial" charset="0"/>
                <a:cs typeface="Arial" charset="0"/>
              </a:rPr>
              <a:t>CQT Feature</a:t>
            </a:r>
            <a:endParaRPr lang="en-US" sz="37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763" y="724854"/>
            <a:ext cx="6860474" cy="613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Binary Classification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1524" y="2520156"/>
            <a:ext cx="11063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Dimension for x is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n_freq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n_time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)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252" y="1345084"/>
            <a:ext cx="2589702" cy="9007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4" y="1559733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We are Classifying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Genuine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or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Spoof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1524" y="3468424"/>
            <a:ext cx="11063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 Data:  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877" y="3547028"/>
            <a:ext cx="825500" cy="495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877" y="4213580"/>
            <a:ext cx="7391400" cy="508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877" y="4881961"/>
            <a:ext cx="3213100" cy="609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467" y="4831161"/>
            <a:ext cx="3149600" cy="660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353" y="3468424"/>
            <a:ext cx="3594343" cy="62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7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Classification Model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013" y="2520156"/>
            <a:ext cx="11063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4013" y="1581139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44012" y="3448268"/>
                <a:ext cx="110631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defRPr/>
                </a:pPr>
                <a:r>
                  <a:rPr lang="en-US" altLang="ko-KR" sz="3200" b="1" dirty="0" smtClean="0">
                    <a:latin typeface="Arial" charset="0"/>
                    <a:ea typeface="Arial" charset="0"/>
                    <a:cs typeface="Arial" charset="0"/>
                  </a:rPr>
                  <a:t>-  Objective is to minimize Cost, C(</a:t>
                </a:r>
                <a14:m>
                  <m:oMath xmlns:m="http://schemas.openxmlformats.org/officeDocument/2006/math">
                    <m:r>
                      <a:rPr lang="en-US" altLang="ko-KR" sz="32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</m:oMath>
                </a14:m>
                <a:r>
                  <a:rPr lang="en-US" altLang="ko-KR" sz="3200" b="1" dirty="0" smtClean="0">
                    <a:latin typeface="Arial" charset="0"/>
                    <a:ea typeface="Arial" charset="0"/>
                    <a:cs typeface="Arial" charset="0"/>
                  </a:rPr>
                  <a:t>), </a:t>
                </a:r>
                <a:r>
                  <a:rPr lang="en-US" altLang="ko-KR" sz="3200" b="1" dirty="0" err="1" smtClean="0">
                    <a:latin typeface="Arial" charset="0"/>
                    <a:ea typeface="Arial" charset="0"/>
                    <a:cs typeface="Arial" charset="0"/>
                  </a:rPr>
                  <a:t>w.r.t</a:t>
                </a:r>
                <a:r>
                  <a:rPr lang="en-US" altLang="ko-KR" sz="3200" b="1" dirty="0" smtClean="0">
                    <a:latin typeface="Arial" charset="0"/>
                    <a:ea typeface="Arial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3200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</m:oMath>
                </a14:m>
                <a:r>
                  <a:rPr lang="en-US" altLang="ko-KR" sz="3200" b="1" dirty="0" smtClean="0">
                    <a:latin typeface="Arial" charset="0"/>
                    <a:ea typeface="Arial" charset="0"/>
                    <a:cs typeface="Arial" charset="0"/>
                  </a:rPr>
                  <a:t> :   </a:t>
                </a:r>
                <a:endParaRPr lang="en-US" altLang="ko-KR" sz="3200" b="1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12" y="3448268"/>
                <a:ext cx="11063111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1377"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6" y="5094957"/>
            <a:ext cx="7360171" cy="7116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17" y="1479826"/>
            <a:ext cx="10096500" cy="787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6" y="2501900"/>
            <a:ext cx="10528300" cy="774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6" y="4183412"/>
            <a:ext cx="45974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7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-35625"/>
            <a:ext cx="11376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LCNN architecture for     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23" y="1983344"/>
            <a:ext cx="5771903" cy="27732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355" y="-83205"/>
            <a:ext cx="1149187" cy="8030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952" y="640533"/>
            <a:ext cx="3567928" cy="584339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1339" y="6483927"/>
            <a:ext cx="88946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rial" charset="0"/>
              </a:rPr>
              <a:t>Lavrentyeva</a:t>
            </a:r>
            <a:r>
              <a:rPr lang="en-US" dirty="0">
                <a:latin typeface="Arial" charset="0"/>
              </a:rPr>
              <a:t> </a:t>
            </a:r>
            <a:r>
              <a:rPr lang="en-US" dirty="0" smtClean="0">
                <a:latin typeface="Arial" charset="0"/>
              </a:rPr>
              <a:t>et al. (2019) </a:t>
            </a:r>
            <a:r>
              <a:rPr lang="en-US" dirty="0">
                <a:latin typeface="Arial" charset="0"/>
              </a:rPr>
              <a:t>STC </a:t>
            </a:r>
            <a:r>
              <a:rPr lang="en-US" dirty="0" err="1">
                <a:latin typeface="Arial" charset="0"/>
              </a:rPr>
              <a:t>Antispoofing</a:t>
            </a:r>
            <a:r>
              <a:rPr lang="en-US" dirty="0">
                <a:latin typeface="Arial" charset="0"/>
              </a:rPr>
              <a:t> Systems for the ASVspoof2019 Challenge</a:t>
            </a:r>
          </a:p>
        </p:txBody>
      </p:sp>
    </p:spTree>
    <p:extLst>
      <p:ext uri="{BB962C8B-B14F-4D97-AF65-F5344CB8AC3E}">
        <p14:creationId xmlns:p14="http://schemas.microsoft.com/office/powerpoint/2010/main" val="69744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" y="-35625"/>
            <a:ext cx="11471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err="1" smtClean="0">
                <a:latin typeface="Arial" charset="0"/>
                <a:ea typeface="Arial" charset="0"/>
                <a:cs typeface="Arial" charset="0"/>
              </a:rPr>
              <a:t>Res</a:t>
            </a:r>
            <a:r>
              <a:rPr lang="en-US" altLang="ko-KR" sz="4000" b="1" dirty="0" err="1" smtClean="0">
                <a:latin typeface="Arial" charset="0"/>
                <a:ea typeface="Arial" charset="0"/>
                <a:cs typeface="Arial" charset="0"/>
              </a:rPr>
              <a:t>Net</a:t>
            </a:r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 architecture for 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5126" name="Picture 6" descr="esnet 34 architecture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90" y="672261"/>
            <a:ext cx="3737635" cy="607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243" y="2451202"/>
            <a:ext cx="4381500" cy="723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494" y="3981795"/>
            <a:ext cx="6159500" cy="673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3902" y="1739654"/>
            <a:ext cx="6983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smtClean="0">
                <a:latin typeface="Arial" charset="0"/>
                <a:ea typeface="Arial" charset="0"/>
                <a:cs typeface="Arial" charset="0"/>
              </a:rPr>
              <a:t>-  Skip connection network is like : 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3902" y="3293855"/>
            <a:ext cx="6983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Training F(x) is training residual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3902" y="4864938"/>
            <a:ext cx="7438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Converges very well for DNN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986" y="-61575"/>
            <a:ext cx="1149187" cy="80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1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-3562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err="1" smtClean="0">
                <a:latin typeface="Arial" charset="0"/>
                <a:ea typeface="Arial" charset="0"/>
                <a:cs typeface="Arial" charset="0"/>
              </a:rPr>
              <a:t>Res</a:t>
            </a:r>
            <a:r>
              <a:rPr lang="en-US" altLang="ko-KR" sz="4000" b="1" dirty="0" err="1" smtClean="0">
                <a:latin typeface="Arial" charset="0"/>
                <a:ea typeface="Arial" charset="0"/>
                <a:cs typeface="Arial" charset="0"/>
              </a:rPr>
              <a:t>Net</a:t>
            </a:r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 architectures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5124" name="Picture 4" descr="esnet 34 architecture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72" y="1111648"/>
            <a:ext cx="11120054" cy="486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81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-3562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err="1" smtClean="0">
                <a:latin typeface="Arial" charset="0"/>
                <a:ea typeface="Arial" charset="0"/>
                <a:cs typeface="Arial" charset="0"/>
              </a:rPr>
              <a:t>SENet</a:t>
            </a:r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 architecture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5122" name="Picture 2" descr="https://i.imgur.com/9UFjxD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79" y="1779550"/>
            <a:ext cx="11471439" cy="346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18172" y="5247969"/>
            <a:ext cx="9615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SE blocks added on each </a:t>
            </a:r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ResNet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blocks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8171" y="1107153"/>
            <a:ext cx="9615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 Won ILSVRC 2017 </a:t>
            </a:r>
            <a:r>
              <a:rPr lang="en-US" altLang="ko-KR" sz="3200" b="1">
                <a:latin typeface="Arial" charset="0"/>
                <a:ea typeface="Arial" charset="0"/>
                <a:cs typeface="Arial" charset="0"/>
              </a:rPr>
              <a:t>ImageNet </a:t>
            </a:r>
            <a:r>
              <a:rPr lang="en-US" altLang="ko-KR" sz="3200" b="1" smtClean="0">
                <a:latin typeface="Arial" charset="0"/>
                <a:ea typeface="Arial" charset="0"/>
                <a:cs typeface="Arial" charset="0"/>
              </a:rPr>
              <a:t>Challenge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68831" y="6488668"/>
            <a:ext cx="9223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latin typeface="Arial" charset="0"/>
              </a:rPr>
              <a:t>Lai </a:t>
            </a:r>
            <a:r>
              <a:rPr lang="en-US" dirty="0" smtClean="0">
                <a:latin typeface="Arial" charset="0"/>
              </a:rPr>
              <a:t>et al. (2019</a:t>
            </a:r>
            <a:r>
              <a:rPr lang="en-US" dirty="0">
                <a:latin typeface="Arial" charset="0"/>
              </a:rPr>
              <a:t>) ASSERT: Anti-Spoofing with Squeeze-Excitation and Residual Networks</a:t>
            </a:r>
          </a:p>
        </p:txBody>
      </p:sp>
    </p:spTree>
    <p:extLst>
      <p:ext uri="{BB962C8B-B14F-4D97-AF65-F5344CB8AC3E}">
        <p14:creationId xmlns:p14="http://schemas.microsoft.com/office/powerpoint/2010/main" val="18493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3771" y="1923803"/>
            <a:ext cx="114082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Why CNN based methods work better than </a:t>
            </a:r>
          </a:p>
          <a:p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RNN based methods in </a:t>
            </a:r>
            <a:r>
              <a:rPr lang="en-US" altLang="ko-KR" sz="4000" b="1" dirty="0" err="1" smtClean="0">
                <a:latin typeface="Arial" charset="0"/>
                <a:ea typeface="Arial" charset="0"/>
                <a:cs typeface="Arial" charset="0"/>
              </a:rPr>
              <a:t>ASVspoof</a:t>
            </a:r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?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0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5654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Implementations?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30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Easy way is to learn </a:t>
            </a:r>
            <a:r>
              <a:rPr lang="en-US" sz="4800" b="1" dirty="0" err="1" smtClean="0">
                <a:latin typeface="Arial" charset="0"/>
                <a:ea typeface="Arial" charset="0"/>
                <a:cs typeface="Arial" charset="0"/>
              </a:rPr>
              <a:t>Tensorflow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63" y="1432170"/>
            <a:ext cx="10280073" cy="522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1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87533" y="304851"/>
            <a:ext cx="9714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Problem in training big data with complex network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71524" y="2100192"/>
                <a:ext cx="11157239" cy="594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defRPr/>
                </a:pPr>
                <a:r>
                  <a:rPr lang="en-US" altLang="ko-KR" sz="3200" b="1" dirty="0">
                    <a:latin typeface="Arial" charset="0"/>
                    <a:ea typeface="Arial" charset="0"/>
                    <a:cs typeface="Arial" charset="0"/>
                  </a:rPr>
                  <a:t>- </a:t>
                </a:r>
                <a:r>
                  <a:rPr lang="en-US" altLang="ko-KR" sz="3200" b="1" dirty="0" smtClean="0">
                    <a:latin typeface="Arial" charset="0"/>
                    <a:ea typeface="Arial" charset="0"/>
                    <a:cs typeface="Arial" charset="0"/>
                  </a:rPr>
                  <a:t>  Minimize Loss w.r.t </a:t>
                </a:r>
                <a14:m>
                  <m:oMath xmlns:m="http://schemas.openxmlformats.org/officeDocument/2006/math">
                    <m:r>
                      <a:rPr lang="ko-KR" altLang="en-US" sz="3200" b="1" i="1" smtClean="0">
                        <a:latin typeface="Cambria Math" panose="02040503050406030204" pitchFamily="18" charset="0"/>
                        <a:ea typeface="Arial" charset="0"/>
                        <a:cs typeface="Arial" charset="0"/>
                      </a:rPr>
                      <m:t>𝜽</m:t>
                    </m:r>
                  </m:oMath>
                </a14:m>
                <a:r>
                  <a:rPr lang="en-US" altLang="ko-KR" sz="3200" b="1" dirty="0" smtClean="0">
                    <a:solidFill>
                      <a:srgbClr val="FF0000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lang="en-US" altLang="ko-KR" sz="3200" b="1" dirty="0" smtClean="0">
                    <a:latin typeface="Arial" charset="0"/>
                    <a:ea typeface="Arial" charset="0"/>
                    <a:cs typeface="Arial" charset="0"/>
                  </a:rPr>
                  <a:t>given data</a:t>
                </a:r>
                <a:endParaRPr lang="en-US" altLang="ko-KR" sz="3200" b="1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4" y="2100192"/>
                <a:ext cx="11157239" cy="594137"/>
              </a:xfrm>
              <a:prstGeom prst="rect">
                <a:avLst/>
              </a:prstGeom>
              <a:blipFill rotWithShape="0">
                <a:blip r:embed="rId2"/>
                <a:stretch>
                  <a:fillRect l="-1421" t="-13402" b="-3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010" y="2168742"/>
            <a:ext cx="2667000" cy="447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2634" y="2694329"/>
            <a:ext cx="7625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This part may suffer (</a:t>
            </a:r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memory problem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) </a:t>
            </a:r>
            <a:endParaRPr lang="en-US" altLang="ko-KR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1524" y="3517502"/>
            <a:ext cx="11157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We can consider using </a:t>
            </a:r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mini-batch Gradient Descent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Stochastic Gradient Descent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1524" y="4928613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We may need a </a:t>
            </a:r>
            <a:r>
              <a:rPr lang="en-US" altLang="ko-KR" sz="32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data generator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79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1524" y="219947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We can handle memory side better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4000" y="53137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Why Gradient Descent?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1524" y="469346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We can cover online-learning side for streaming data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1524" y="2714696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 (Control Batch Size)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1524" y="367201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Easy calculation in backpropagation (chain rule)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3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53137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What is Gradient Descent?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55" y="1643783"/>
            <a:ext cx="10788689" cy="521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6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87233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What is Stochastic Gradient Descent?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87" y="2290762"/>
            <a:ext cx="9115425" cy="410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4" y="1491554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Perform the gradient update using each sample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89524" y="4497766"/>
            <a:ext cx="62238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Mini-batch: Perform the update Using batch samples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50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360424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Why Generator?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1524" y="186424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Do not load data in your memory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1524" y="2651817"/>
            <a:ext cx="11157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In modeling, you can feed data from file </a:t>
            </a:r>
            <a:r>
              <a:rPr lang="en-US" altLang="ko-KR" sz="3200" b="1" smtClean="0">
                <a:latin typeface="Arial" charset="0"/>
                <a:ea typeface="Arial" charset="0"/>
                <a:cs typeface="Arial" charset="0"/>
              </a:rPr>
              <a:t>using generator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94" y="4123379"/>
            <a:ext cx="93091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3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1925913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Miscellaneous Tips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3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Overfitting </a:t>
            </a:r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/ </a:t>
            </a:r>
            <a:r>
              <a:rPr lang="en-US" sz="4800" b="1" dirty="0" err="1" smtClean="0">
                <a:latin typeface="Arial" charset="0"/>
                <a:ea typeface="Arial" charset="0"/>
                <a:cs typeface="Arial" charset="0"/>
              </a:rPr>
              <a:t>underfitting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8434" name="Picture 2" descr="verfitting underfitting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583" y="1275644"/>
            <a:ext cx="8868833" cy="49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8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Early Stopping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Picture 8" descr="´ë ¨ ì´ë¯¸ì§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49" y="1330037"/>
            <a:ext cx="8070021" cy="552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12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Regularization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1524" y="142291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 Consider regularization when </a:t>
            </a:r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overfitted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1524" y="223571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 L1, L2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002" y="2962196"/>
            <a:ext cx="2603501" cy="7675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6537" y="304851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L1: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6537" y="3729794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L2: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190" y="3755138"/>
            <a:ext cx="2630313" cy="6575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524" y="4674117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 Dropout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45" y="2996504"/>
            <a:ext cx="5102101" cy="76851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45" y="3701245"/>
            <a:ext cx="4983349" cy="77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3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203991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Dropout Regularization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1524" y="1287448"/>
            <a:ext cx="11157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-   Reduce high dependency on few nodes (act like random forest)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506" name="Picture 2" descr="rop out regularization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510" y="2432400"/>
            <a:ext cx="8297337" cy="413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5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38667" y="1876300"/>
            <a:ext cx="11300177" cy="14012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Use learning </a:t>
            </a:r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rate decay </a:t>
            </a:r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when </a:t>
            </a:r>
            <a:r>
              <a:rPr lang="en-US" sz="4800" b="1" smtClean="0">
                <a:latin typeface="Arial" charset="0"/>
                <a:ea typeface="Arial" charset="0"/>
                <a:cs typeface="Arial" charset="0"/>
              </a:rPr>
              <a:t>overfitting </a:t>
            </a:r>
          </a:p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is not an issue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68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8039" y="2163340"/>
            <a:ext cx="751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8039" y="5804006"/>
            <a:ext cx="751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Ilyoup.kwak@gmail.com</a:t>
            </a:r>
            <a:endParaRPr lang="en-US" altLang="ko-KR" sz="3200" b="1" dirty="0" smtClean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81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37515</TotalTime>
  <Words>683</Words>
  <Application>Microsoft Macintosh PowerPoint</Application>
  <PresentationFormat>Widescreen</PresentationFormat>
  <Paragraphs>120</Paragraphs>
  <Slides>39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Calibri</vt:lpstr>
      <vt:lpstr>Calibri Light</vt:lpstr>
      <vt:lpstr>Cambria Math</vt:lpstr>
      <vt:lpstr>맑은 고딕</vt:lpstr>
      <vt:lpstr>Arial</vt:lpstr>
      <vt:lpstr>Office Theme</vt:lpstr>
      <vt:lpstr>Deep Learning Methods in Spoof Detection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il youp kwak</cp:lastModifiedBy>
  <cp:revision>103</cp:revision>
  <dcterms:created xsi:type="dcterms:W3CDTF">2017-01-04T08:04:00Z</dcterms:created>
  <dcterms:modified xsi:type="dcterms:W3CDTF">2019-10-28T12:24:29Z</dcterms:modified>
</cp:coreProperties>
</file>