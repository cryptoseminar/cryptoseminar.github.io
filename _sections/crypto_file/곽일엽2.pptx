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318" r:id="rId3"/>
    <p:sldId id="319" r:id="rId4"/>
    <p:sldId id="320" r:id="rId5"/>
    <p:sldId id="321" r:id="rId6"/>
    <p:sldId id="322" r:id="rId7"/>
    <p:sldId id="323" r:id="rId8"/>
    <p:sldId id="327" r:id="rId9"/>
    <p:sldId id="341" r:id="rId10"/>
    <p:sldId id="325" r:id="rId11"/>
    <p:sldId id="326" r:id="rId12"/>
    <p:sldId id="329" r:id="rId13"/>
    <p:sldId id="328" r:id="rId14"/>
    <p:sldId id="342" r:id="rId15"/>
    <p:sldId id="343" r:id="rId16"/>
    <p:sldId id="344" r:id="rId17"/>
    <p:sldId id="346" r:id="rId18"/>
    <p:sldId id="347" r:id="rId19"/>
    <p:sldId id="348" r:id="rId20"/>
    <p:sldId id="331" r:id="rId21"/>
    <p:sldId id="332" r:id="rId22"/>
    <p:sldId id="333" r:id="rId23"/>
    <p:sldId id="335" r:id="rId24"/>
    <p:sldId id="336" r:id="rId25"/>
    <p:sldId id="337" r:id="rId26"/>
    <p:sldId id="338" r:id="rId27"/>
    <p:sldId id="339" r:id="rId28"/>
    <p:sldId id="340" r:id="rId29"/>
    <p:sldId id="289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972"/>
    <p:restoredTop sz="94665"/>
  </p:normalViewPr>
  <p:slideViewPr>
    <p:cSldViewPr snapToGrid="0" snapToObjects="1">
      <p:cViewPr varScale="1">
        <p:scale>
          <a:sx n="97" d="100"/>
          <a:sy n="97" d="100"/>
        </p:scale>
        <p:origin x="25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48C07-A606-6542-B7F1-848A61E86833}" type="datetimeFigureOut">
              <a:rPr lang="en-US" smtClean="0"/>
              <a:t>10/15/2019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5567E8-4C79-BB4E-9560-31CFC8E4E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595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0D7613-3D35-AE4D-9AE3-5FBE5BD1823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96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0D7613-3D35-AE4D-9AE3-5FBE5BD1823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6368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0D7613-3D35-AE4D-9AE3-5FBE5BD1823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5302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0D7613-3D35-AE4D-9AE3-5FBE5BD1823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8083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0D7613-3D35-AE4D-9AE3-5FBE5BD1823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83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0D7613-3D35-AE4D-9AE3-5FBE5BD1823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8489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0D7613-3D35-AE4D-9AE3-5FBE5BD1823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484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0D7613-3D35-AE4D-9AE3-5FBE5BD1823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296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0D7613-3D35-AE4D-9AE3-5FBE5BD1823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3267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0D7613-3D35-AE4D-9AE3-5FBE5BD1823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6338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0D7613-3D35-AE4D-9AE3-5FBE5BD1823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9669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0D7613-3D35-AE4D-9AE3-5FBE5BD1823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49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Sales</a:t>
            </a:r>
            <a:r>
              <a:rPr lang="en-US" baseline="0" dirty="0" smtClean="0"/>
              <a:t> data </a:t>
            </a:r>
            <a:r>
              <a:rPr lang="ko-KR" altLang="en-US" baseline="0" dirty="0" smtClean="0"/>
              <a:t>가 있을때</a:t>
            </a:r>
            <a:r>
              <a:rPr lang="en-US" altLang="ko-KR" baseline="0" dirty="0" smtClean="0"/>
              <a:t>,</a:t>
            </a:r>
            <a:r>
              <a:rPr lang="ko-KR" altLang="en-US" baseline="0" dirty="0" smtClean="0"/>
              <a:t> 이를 이용해서 무었을 할 수 있지</a:t>
            </a:r>
            <a:r>
              <a:rPr lang="en-US" altLang="ko-KR" baseline="0" dirty="0" smtClean="0"/>
              <a:t>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0D7613-3D35-AE4D-9AE3-5FBE5BD1823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517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Sales</a:t>
            </a:r>
            <a:r>
              <a:rPr lang="en-US" baseline="0" dirty="0" smtClean="0"/>
              <a:t> data </a:t>
            </a:r>
            <a:r>
              <a:rPr lang="ko-KR" altLang="en-US" baseline="0" dirty="0" smtClean="0"/>
              <a:t>가 있을때</a:t>
            </a:r>
            <a:r>
              <a:rPr lang="en-US" altLang="ko-KR" baseline="0" dirty="0" smtClean="0"/>
              <a:t>,</a:t>
            </a:r>
            <a:r>
              <a:rPr lang="ko-KR" altLang="en-US" baseline="0" dirty="0" smtClean="0"/>
              <a:t> 이를 이용해서 무었을 할 수 있지</a:t>
            </a:r>
            <a:r>
              <a:rPr lang="en-US" altLang="ko-KR" baseline="0" dirty="0" smtClean="0"/>
              <a:t>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0D7613-3D35-AE4D-9AE3-5FBE5BD1823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4521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0D7613-3D35-AE4D-9AE3-5FBE5BD1823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8470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0D7613-3D35-AE4D-9AE3-5FBE5BD1823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0545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0D7613-3D35-AE4D-9AE3-5FBE5BD1823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3778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0D7613-3D35-AE4D-9AE3-5FBE5BD1823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956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0D7613-3D35-AE4D-9AE3-5FBE5BD1823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6968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0D7613-3D35-AE4D-9AE3-5FBE5BD1823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200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FA554-391E-B441-A881-5D9DAB30F6DF}" type="datetimeFigureOut">
              <a:rPr lang="en-US" smtClean="0"/>
              <a:t>10/15/2019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12F5-8CB1-CC46-BF3D-F71D64E4B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502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FA554-391E-B441-A881-5D9DAB30F6DF}" type="datetimeFigureOut">
              <a:rPr lang="en-US" smtClean="0"/>
              <a:t>10/15/2019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12F5-8CB1-CC46-BF3D-F71D64E4B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050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FA554-391E-B441-A881-5D9DAB30F6DF}" type="datetimeFigureOut">
              <a:rPr lang="en-US" smtClean="0"/>
              <a:t>10/15/2019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12F5-8CB1-CC46-BF3D-F71D64E4B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11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FA554-391E-B441-A881-5D9DAB30F6DF}" type="datetimeFigureOut">
              <a:rPr lang="en-US" smtClean="0"/>
              <a:t>10/15/2019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12F5-8CB1-CC46-BF3D-F71D64E4B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682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FA554-391E-B441-A881-5D9DAB30F6DF}" type="datetimeFigureOut">
              <a:rPr lang="en-US" smtClean="0"/>
              <a:t>10/15/2019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12F5-8CB1-CC46-BF3D-F71D64E4B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040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FA554-391E-B441-A881-5D9DAB30F6DF}" type="datetimeFigureOut">
              <a:rPr lang="en-US" smtClean="0"/>
              <a:t>10/15/2019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12F5-8CB1-CC46-BF3D-F71D64E4B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589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FA554-391E-B441-A881-5D9DAB30F6DF}" type="datetimeFigureOut">
              <a:rPr lang="en-US" smtClean="0"/>
              <a:t>10/15/2019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12F5-8CB1-CC46-BF3D-F71D64E4B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498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FA554-391E-B441-A881-5D9DAB30F6DF}" type="datetimeFigureOut">
              <a:rPr lang="en-US" smtClean="0"/>
              <a:t>10/15/2019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12F5-8CB1-CC46-BF3D-F71D64E4B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56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FA554-391E-B441-A881-5D9DAB30F6DF}" type="datetimeFigureOut">
              <a:rPr lang="en-US" smtClean="0"/>
              <a:t>10/15/2019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12F5-8CB1-CC46-BF3D-F71D64E4B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52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FA554-391E-B441-A881-5D9DAB30F6DF}" type="datetimeFigureOut">
              <a:rPr lang="en-US" smtClean="0"/>
              <a:t>10/15/2019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12F5-8CB1-CC46-BF3D-F71D64E4B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678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FA554-391E-B441-A881-5D9DAB30F6DF}" type="datetimeFigureOut">
              <a:rPr lang="en-US" smtClean="0"/>
              <a:t>10/15/2019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12F5-8CB1-CC46-BF3D-F71D64E4B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91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8FA554-391E-B441-A881-5D9DAB30F6DF}" type="datetimeFigureOut">
              <a:rPr lang="en-US" smtClean="0"/>
              <a:t>10/15/2019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B012F5-8CB1-CC46-BF3D-F71D64E4B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788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ata_mining" TargetMode="External"/><Relationship Id="rId2" Type="http://schemas.openxmlformats.org/officeDocument/2006/relationships/hyperlink" Target="https://en.wikipedia.org/wiki/Multi-disciplinary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Big_data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78280"/>
            <a:ext cx="9144000" cy="1397922"/>
          </a:xfrm>
        </p:spPr>
        <p:txBody>
          <a:bodyPr>
            <a:normAutofit/>
          </a:bodyPr>
          <a:lstStyle/>
          <a:p>
            <a:r>
              <a:rPr lang="en-US" sz="5500" b="1" dirty="0" smtClean="0">
                <a:latin typeface="Arial" charset="0"/>
                <a:ea typeface="Arial" charset="0"/>
                <a:cs typeface="Arial" charset="0"/>
              </a:rPr>
              <a:t>About</a:t>
            </a:r>
            <a:r>
              <a:rPr lang="en-US" sz="5500" b="1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5500" b="1" dirty="0" smtClean="0">
                <a:latin typeface="Arial" charset="0"/>
                <a:ea typeface="Arial" charset="0"/>
                <a:cs typeface="Arial" charset="0"/>
              </a:rPr>
              <a:t>Data Scientists</a:t>
            </a:r>
            <a:endParaRPr lang="en-US" sz="55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03120"/>
            <a:ext cx="9144000" cy="1655762"/>
          </a:xfrm>
        </p:spPr>
        <p:txBody>
          <a:bodyPr>
            <a:normAutofit/>
          </a:bodyPr>
          <a:lstStyle/>
          <a:p>
            <a:endParaRPr lang="en-US" dirty="0" smtClean="0">
              <a:latin typeface="Arial" charset="0"/>
              <a:ea typeface="Arial" charset="0"/>
              <a:cs typeface="Arial" charset="0"/>
            </a:endParaRPr>
          </a:p>
          <a:p>
            <a:r>
              <a:rPr lang="en-US" altLang="ko-KR" b="1" dirty="0" smtClean="0">
                <a:latin typeface="Arial" charset="0"/>
                <a:ea typeface="Arial" charset="0"/>
                <a:cs typeface="Arial" charset="0"/>
              </a:rPr>
              <a:t>Il-</a:t>
            </a:r>
            <a:r>
              <a:rPr lang="en-US" altLang="ko-KR" b="1" dirty="0" err="1" smtClean="0">
                <a:latin typeface="Arial" charset="0"/>
                <a:ea typeface="Arial" charset="0"/>
                <a:cs typeface="Arial" charset="0"/>
              </a:rPr>
              <a:t>Youp</a:t>
            </a:r>
            <a:r>
              <a:rPr lang="en-US" altLang="ko-KR" b="1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ko-KR" b="1" dirty="0" err="1" smtClean="0">
                <a:latin typeface="Arial" charset="0"/>
                <a:ea typeface="Arial" charset="0"/>
                <a:cs typeface="Arial" charset="0"/>
              </a:rPr>
              <a:t>Kwak</a:t>
            </a:r>
            <a:r>
              <a:rPr lang="ko-KR" altLang="en-US" b="1" dirty="0" smtClean="0">
                <a:latin typeface="Arial" charset="0"/>
                <a:ea typeface="Arial" charset="0"/>
                <a:cs typeface="Arial" charset="0"/>
              </a:rPr>
              <a:t> </a:t>
            </a:r>
            <a:endParaRPr lang="en-US" altLang="ko-KR" b="1" dirty="0" smtClean="0">
              <a:latin typeface="Arial" charset="0"/>
              <a:ea typeface="Arial" charset="0"/>
              <a:cs typeface="Arial" charset="0"/>
            </a:endParaRPr>
          </a:p>
          <a:p>
            <a:r>
              <a:rPr lang="en-US" altLang="ko-KR" dirty="0" smtClean="0">
                <a:latin typeface="Arial" charset="0"/>
                <a:ea typeface="Arial" charset="0"/>
                <a:cs typeface="Arial" charset="0"/>
              </a:rPr>
              <a:t>Chung-</a:t>
            </a:r>
            <a:r>
              <a:rPr lang="en-US" altLang="ko-KR" dirty="0" err="1" smtClean="0">
                <a:latin typeface="Arial" charset="0"/>
                <a:ea typeface="Arial" charset="0"/>
                <a:cs typeface="Arial" charset="0"/>
              </a:rPr>
              <a:t>Ang</a:t>
            </a:r>
            <a:r>
              <a:rPr lang="en-US" altLang="ko-KR" dirty="0" smtClean="0">
                <a:latin typeface="Arial" charset="0"/>
                <a:ea typeface="Arial" charset="0"/>
                <a:cs typeface="Arial" charset="0"/>
              </a:rPr>
              <a:t> University</a:t>
            </a:r>
            <a:endParaRPr lang="en-US" dirty="0" smtClean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3218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835" y="661143"/>
            <a:ext cx="8653669" cy="625227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Oval 1"/>
          <p:cNvSpPr/>
          <p:nvPr/>
        </p:nvSpPr>
        <p:spPr>
          <a:xfrm>
            <a:off x="3594817" y="5107447"/>
            <a:ext cx="563880" cy="294640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>
            <a:stCxn id="2" idx="0"/>
            <a:endCxn id="6" idx="2"/>
          </p:cNvCxnSpPr>
          <p:nvPr/>
        </p:nvCxnSpPr>
        <p:spPr>
          <a:xfrm flipH="1" flipV="1">
            <a:off x="3594817" y="4145526"/>
            <a:ext cx="281940" cy="961921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415968" y="3776194"/>
            <a:ext cx="2357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Intel 8088, IBM XT, 8bit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9480" y="2478925"/>
            <a:ext cx="1771227" cy="132842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045350" y="3862731"/>
            <a:ext cx="563880" cy="294640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>
            <a:stCxn id="8" idx="0"/>
          </p:cNvCxnSpPr>
          <p:nvPr/>
        </p:nvCxnSpPr>
        <p:spPr>
          <a:xfrm flipH="1" flipV="1">
            <a:off x="5236283" y="3284027"/>
            <a:ext cx="91007" cy="578704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49954" y="2892191"/>
            <a:ext cx="1957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Intel Pentium, i486</a:t>
            </a: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219" y="638639"/>
            <a:ext cx="1615656" cy="230231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3773891" y="4759846"/>
            <a:ext cx="563880" cy="294640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3990077" y="4517167"/>
            <a:ext cx="563880" cy="294640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4523749" y="4104352"/>
            <a:ext cx="563880" cy="294640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5111955" y="535233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286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833036" y="5072673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r>
              <a:rPr lang="en-US" dirty="0" smtClean="0"/>
              <a:t>86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6232467" y="471413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r>
              <a:rPr lang="en-US" dirty="0" smtClean="0"/>
              <a:t>86</a:t>
            </a:r>
            <a:endParaRPr lang="en-US" dirty="0"/>
          </a:p>
        </p:txBody>
      </p:sp>
      <p:cxnSp>
        <p:nvCxnSpPr>
          <p:cNvPr id="20" name="Straight Arrow Connector 19"/>
          <p:cNvCxnSpPr>
            <a:stCxn id="14" idx="4"/>
          </p:cNvCxnSpPr>
          <p:nvPr/>
        </p:nvCxnSpPr>
        <p:spPr>
          <a:xfrm>
            <a:off x="4055831" y="5054486"/>
            <a:ext cx="1031798" cy="484901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5" idx="5"/>
          </p:cNvCxnSpPr>
          <p:nvPr/>
        </p:nvCxnSpPr>
        <p:spPr>
          <a:xfrm>
            <a:off x="4471379" y="4768658"/>
            <a:ext cx="1329257" cy="480487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6" idx="5"/>
          </p:cNvCxnSpPr>
          <p:nvPr/>
        </p:nvCxnSpPr>
        <p:spPr>
          <a:xfrm>
            <a:off x="5005051" y="4355843"/>
            <a:ext cx="1098688" cy="526431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262866" y="1112694"/>
            <a:ext cx="3608499" cy="2362200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7580812" y="3582897"/>
            <a:ext cx="2290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Getting Multiple cores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-36667" y="10414"/>
            <a:ext cx="121920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defRPr/>
            </a:pPr>
            <a:r>
              <a:rPr lang="en-US" altLang="ko-KR" sz="3500" b="1" dirty="0">
                <a:latin typeface="Arial" charset="0"/>
                <a:ea typeface="Arial" charset="0"/>
                <a:cs typeface="Arial" charset="0"/>
              </a:rPr>
              <a:t>Exponential Laws of Computing Growth</a:t>
            </a:r>
            <a:endParaRPr lang="en-US" altLang="ko-KR" sz="3500" b="1" dirty="0" smtClean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229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  <p:bldP spid="8" grpId="0" animBg="1"/>
      <p:bldP spid="10" grpId="0"/>
      <p:bldP spid="14" grpId="0" animBg="1"/>
      <p:bldP spid="15" grpId="0" animBg="1"/>
      <p:bldP spid="16" grpId="0" animBg="1"/>
      <p:bldP spid="17" grpId="0"/>
      <p:bldP spid="18" grpId="0"/>
      <p:bldP spid="19" grpId="0"/>
      <p:bldP spid="29" grpId="0" animBg="1"/>
      <p:bldP spid="3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491" y="931719"/>
            <a:ext cx="7620000" cy="571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-1" y="10414"/>
            <a:ext cx="1219200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defRPr/>
            </a:pPr>
            <a:r>
              <a:rPr lang="en-US" altLang="ko-KR" sz="3500" b="1" dirty="0" smtClean="0">
                <a:latin typeface="Arial" charset="0"/>
                <a:ea typeface="Arial" charset="0"/>
                <a:cs typeface="Arial" charset="0"/>
              </a:rPr>
              <a:t>Global Information Storage Capacity also Growing</a:t>
            </a:r>
          </a:p>
        </p:txBody>
      </p:sp>
    </p:spTree>
    <p:extLst>
      <p:ext uri="{BB962C8B-B14F-4D97-AF65-F5344CB8AC3E}">
        <p14:creationId xmlns:p14="http://schemas.microsoft.com/office/powerpoint/2010/main" val="2040715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2163340"/>
            <a:ext cx="1062228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b="1" dirty="0" smtClean="0">
                <a:latin typeface="Arial" charset="0"/>
                <a:ea typeface="Arial" charset="0"/>
                <a:cs typeface="Arial" charset="0"/>
              </a:rPr>
              <a:t>Computers are getting faster,</a:t>
            </a:r>
            <a:endParaRPr lang="en-US" sz="38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3367300"/>
            <a:ext cx="121920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b="1" dirty="0" smtClean="0">
                <a:latin typeface="Arial" charset="0"/>
                <a:ea typeface="Arial" charset="0"/>
                <a:cs typeface="Arial" charset="0"/>
              </a:rPr>
              <a:t>Information </a:t>
            </a:r>
            <a:r>
              <a:rPr lang="en-US" sz="3800" b="1" dirty="0">
                <a:latin typeface="Arial" charset="0"/>
                <a:ea typeface="Arial" charset="0"/>
                <a:cs typeface="Arial" charset="0"/>
              </a:rPr>
              <a:t>s</a:t>
            </a:r>
            <a:r>
              <a:rPr lang="en-US" sz="3800" b="1" dirty="0" smtClean="0">
                <a:latin typeface="Arial" charset="0"/>
                <a:ea typeface="Arial" charset="0"/>
                <a:cs typeface="Arial" charset="0"/>
              </a:rPr>
              <a:t>torage growing bigger</a:t>
            </a:r>
            <a:endParaRPr lang="en-US" sz="3800" b="1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936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-1" y="139368"/>
            <a:ext cx="1219200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defRPr/>
            </a:pPr>
            <a:r>
              <a:rPr lang="en-US" altLang="ko-KR" sz="3500" b="1" dirty="0" smtClean="0">
                <a:latin typeface="Arial" charset="0"/>
                <a:ea typeface="Arial" charset="0"/>
                <a:cs typeface="Arial" charset="0"/>
              </a:rPr>
              <a:t>Opens </a:t>
            </a:r>
            <a:r>
              <a:rPr lang="en-US" altLang="ko-KR" sz="3500" b="1" dirty="0" smtClean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Big Data</a:t>
            </a:r>
            <a:r>
              <a:rPr lang="en-US" altLang="ko-KR" sz="3500" b="1" dirty="0" smtClean="0">
                <a:latin typeface="Arial" charset="0"/>
                <a:ea typeface="Arial" charset="0"/>
                <a:cs typeface="Arial" charset="0"/>
              </a:rPr>
              <a:t> Era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2508"/>
            <a:ext cx="5743528" cy="516413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6383" y="2426677"/>
            <a:ext cx="6223278" cy="3236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975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0"/>
            <a:ext cx="1219200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defRPr/>
            </a:pPr>
            <a:r>
              <a:rPr lang="en-US" altLang="ko-KR" sz="3500" b="1" dirty="0" smtClean="0">
                <a:latin typeface="Arial" charset="0"/>
                <a:ea typeface="Arial" charset="0"/>
                <a:cs typeface="Arial" charset="0"/>
              </a:rPr>
              <a:t>A good eco for </a:t>
            </a:r>
            <a:r>
              <a:rPr lang="en-US" altLang="ko-KR" sz="3500" b="1" dirty="0" smtClean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AI</a:t>
            </a:r>
            <a:endParaRPr lang="en-US" altLang="ko-KR" sz="3500" b="1" dirty="0" smtClean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0570"/>
            <a:ext cx="12192000" cy="619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417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-1" y="0"/>
            <a:ext cx="1219200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defRPr/>
            </a:pPr>
            <a:r>
              <a:rPr lang="en-US" altLang="ko-KR" sz="3500" b="1" dirty="0" smtClean="0">
                <a:latin typeface="Arial" charset="0"/>
                <a:ea typeface="Arial" charset="0"/>
                <a:cs typeface="Arial" charset="0"/>
              </a:rPr>
              <a:t>Growing need for </a:t>
            </a:r>
            <a:r>
              <a:rPr lang="en-US" altLang="ko-KR" sz="3500" b="1" dirty="0" smtClean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Data Scientists</a:t>
            </a:r>
            <a:endParaRPr lang="en-US" altLang="ko-KR" sz="3500" b="1" dirty="0" smtClean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026" name="Picture 2" descr="https://www.smithhanley.com/wp-content/uploads/2017/04/Infographic-Data-Scientist-4-2017-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618" y="685798"/>
            <a:ext cx="8222761" cy="13338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5679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822220"/>
            <a:ext cx="121920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500" b="1" dirty="0" smtClean="0">
                <a:latin typeface="Arial" charset="0"/>
                <a:ea typeface="Arial" charset="0"/>
                <a:cs typeface="Arial" charset="0"/>
              </a:rPr>
              <a:t>What is Data Scientist?</a:t>
            </a:r>
            <a:endParaRPr lang="en-US" sz="45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84860" y="2337138"/>
            <a:ext cx="10622280" cy="3323987"/>
          </a:xfrm>
          <a:prstGeom prst="rect">
            <a:avLst/>
          </a:prstGeom>
          <a:ln w="28575">
            <a:noFill/>
          </a:ln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222222"/>
                </a:solidFill>
                <a:latin typeface="Arial" charset="0"/>
              </a:rPr>
              <a:t>Data science</a:t>
            </a:r>
            <a:r>
              <a:rPr lang="en-US" sz="3000" dirty="0">
                <a:solidFill>
                  <a:srgbClr val="222222"/>
                </a:solidFill>
                <a:latin typeface="Arial" charset="0"/>
              </a:rPr>
              <a:t> is a </a:t>
            </a:r>
            <a:r>
              <a:rPr lang="en-US" sz="3000" dirty="0">
                <a:solidFill>
                  <a:srgbClr val="0B0080"/>
                </a:solidFill>
                <a:latin typeface="Arial" charset="0"/>
                <a:hlinkClick r:id="rId2" tooltip="Multi-disciplinary"/>
              </a:rPr>
              <a:t>multi-disciplinary</a:t>
            </a:r>
            <a:r>
              <a:rPr lang="en-US" sz="3000" dirty="0">
                <a:solidFill>
                  <a:srgbClr val="222222"/>
                </a:solidFill>
                <a:latin typeface="Arial" charset="0"/>
              </a:rPr>
              <a:t> field that uses scientific methods, processes, algorithms and systems to </a:t>
            </a:r>
            <a:r>
              <a:rPr lang="en-US" sz="3000" dirty="0" smtClean="0">
                <a:solidFill>
                  <a:srgbClr val="222222"/>
                </a:solidFill>
                <a:latin typeface="Arial" charset="0"/>
              </a:rPr>
              <a:t>extract knowledge and </a:t>
            </a:r>
            <a:r>
              <a:rPr lang="en-US" sz="3000" dirty="0">
                <a:solidFill>
                  <a:srgbClr val="222222"/>
                </a:solidFill>
                <a:latin typeface="Arial" charset="0"/>
              </a:rPr>
              <a:t>insights from structured and </a:t>
            </a:r>
            <a:r>
              <a:rPr lang="en-US" sz="3000" dirty="0" smtClean="0">
                <a:solidFill>
                  <a:srgbClr val="222222"/>
                </a:solidFill>
                <a:latin typeface="Arial" charset="0"/>
              </a:rPr>
              <a:t>unstructured data.</a:t>
            </a:r>
            <a:r>
              <a:rPr lang="en-US" sz="3000" baseline="30000" dirty="0" smtClean="0">
                <a:solidFill>
                  <a:srgbClr val="0B0080"/>
                </a:solidFill>
                <a:latin typeface="Arial" charset="0"/>
              </a:rPr>
              <a:t> </a:t>
            </a:r>
            <a:r>
              <a:rPr lang="en-US" sz="3000" dirty="0">
                <a:solidFill>
                  <a:srgbClr val="222222"/>
                </a:solidFill>
                <a:latin typeface="Arial" charset="0"/>
              </a:rPr>
              <a:t> Data science is the same concept as </a:t>
            </a:r>
            <a:r>
              <a:rPr lang="en-US" sz="3000" dirty="0">
                <a:solidFill>
                  <a:srgbClr val="0B0080"/>
                </a:solidFill>
                <a:latin typeface="Arial" charset="0"/>
                <a:hlinkClick r:id="rId3" tooltip="Data mining"/>
              </a:rPr>
              <a:t>data mining</a:t>
            </a:r>
            <a:r>
              <a:rPr lang="en-US" sz="3000" dirty="0">
                <a:solidFill>
                  <a:srgbClr val="222222"/>
                </a:solidFill>
                <a:latin typeface="Arial" charset="0"/>
              </a:rPr>
              <a:t> and </a:t>
            </a:r>
            <a:r>
              <a:rPr lang="en-US" sz="3000" dirty="0">
                <a:solidFill>
                  <a:srgbClr val="0B0080"/>
                </a:solidFill>
                <a:latin typeface="Arial" charset="0"/>
                <a:hlinkClick r:id="rId4" tooltip="Big data"/>
              </a:rPr>
              <a:t>big data</a:t>
            </a:r>
            <a:r>
              <a:rPr lang="en-US" sz="3000" dirty="0">
                <a:solidFill>
                  <a:srgbClr val="222222"/>
                </a:solidFill>
                <a:latin typeface="Arial" charset="0"/>
              </a:rPr>
              <a:t>: "use the most powerful hardware, the most powerful programming systems, and the most efficient algorithms to solve problems".</a:t>
            </a:r>
            <a:endParaRPr lang="en-US" sz="3000" dirty="0"/>
          </a:p>
        </p:txBody>
      </p:sp>
      <p:sp>
        <p:nvSpPr>
          <p:cNvPr id="3" name="Rectangle 2"/>
          <p:cNvSpPr/>
          <p:nvPr/>
        </p:nvSpPr>
        <p:spPr>
          <a:xfrm>
            <a:off x="3307080" y="6211669"/>
            <a:ext cx="88849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Dhar</a:t>
            </a:r>
            <a:r>
              <a:rPr lang="en-US" dirty="0"/>
              <a:t>, V. (2013). "Data science and prediction". Communications of the ACM. 56 (12): 64–73</a:t>
            </a:r>
            <a:r>
              <a:rPr lang="en-US" dirty="0" smtClean="0"/>
              <a:t>.</a:t>
            </a:r>
          </a:p>
          <a:p>
            <a:r>
              <a:rPr lang="en-US" dirty="0"/>
              <a:t>Jeff Leek </a:t>
            </a:r>
            <a:r>
              <a:rPr lang="en-US" dirty="0" smtClean="0"/>
              <a:t>(2013</a:t>
            </a:r>
            <a:r>
              <a:rPr lang="en-US" dirty="0"/>
              <a:t>). "The key word in "Data Science" is not Data, it is Science". Simply Statistics</a:t>
            </a:r>
          </a:p>
        </p:txBody>
      </p:sp>
    </p:spTree>
    <p:extLst>
      <p:ext uri="{BB962C8B-B14F-4D97-AF65-F5344CB8AC3E}">
        <p14:creationId xmlns:p14="http://schemas.microsoft.com/office/powerpoint/2010/main" val="347594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249680" y="1627120"/>
            <a:ext cx="986027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" charset="0"/>
                <a:ea typeface="Arial" charset="0"/>
                <a:cs typeface="Arial" charset="0"/>
              </a:rPr>
              <a:t>Big data is like teenage sex: everyone talks about it, nobody really knows how to do it, everyone thinks everyone else is doing it, so everyone claims they are doing it. </a:t>
            </a:r>
          </a:p>
          <a:p>
            <a:endParaRPr lang="en-US" sz="3200" b="1" dirty="0" smtClean="0">
              <a:latin typeface="Arial" charset="0"/>
              <a:ea typeface="Arial" charset="0"/>
              <a:cs typeface="Arial" charset="0"/>
            </a:endParaRPr>
          </a:p>
          <a:p>
            <a:endParaRPr lang="en-US" sz="3200" b="1" dirty="0">
              <a:latin typeface="Arial" charset="0"/>
              <a:ea typeface="Arial" charset="0"/>
              <a:cs typeface="Arial" charset="0"/>
            </a:endParaRPr>
          </a:p>
          <a:p>
            <a:r>
              <a:rPr lang="en-US" sz="3200" b="1" dirty="0" smtClean="0">
                <a:latin typeface="Arial" charset="0"/>
                <a:ea typeface="Arial" charset="0"/>
                <a:cs typeface="Arial" charset="0"/>
              </a:rPr>
              <a:t>     – </a:t>
            </a:r>
            <a:r>
              <a:rPr lang="en-US" sz="3200" b="1" dirty="0">
                <a:latin typeface="Arial" charset="0"/>
                <a:ea typeface="Arial" charset="0"/>
                <a:cs typeface="Arial" charset="0"/>
              </a:rPr>
              <a:t>Dan </a:t>
            </a:r>
            <a:r>
              <a:rPr lang="en-US" sz="3200" b="1" dirty="0" err="1">
                <a:latin typeface="Arial" charset="0"/>
                <a:ea typeface="Arial" charset="0"/>
                <a:cs typeface="Arial" charset="0"/>
              </a:rPr>
              <a:t>Ariely</a:t>
            </a:r>
            <a:r>
              <a:rPr lang="en-US" sz="3200" b="1" dirty="0">
                <a:latin typeface="Arial" charset="0"/>
                <a:ea typeface="Arial" charset="0"/>
                <a:cs typeface="Arial" charset="0"/>
              </a:rPr>
              <a:t> (Professor of Psychology at </a:t>
            </a:r>
            <a:r>
              <a:rPr lang="en-US" sz="3200" b="1" dirty="0" smtClean="0">
                <a:latin typeface="Arial" charset="0"/>
                <a:ea typeface="Arial" charset="0"/>
                <a:cs typeface="Arial" charset="0"/>
              </a:rPr>
              <a:t>Duke)</a:t>
            </a:r>
            <a:endParaRPr lang="en-US" sz="3200" b="1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426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" y="2401924"/>
            <a:ext cx="6091495" cy="265540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839" y="2401923"/>
            <a:ext cx="5756784" cy="26554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-1" y="1051560"/>
            <a:ext cx="1219200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defRPr/>
            </a:pPr>
            <a:r>
              <a:rPr lang="en-US" altLang="ko-KR" sz="3800" b="1" dirty="0" smtClean="0">
                <a:latin typeface="Arial" charset="0"/>
                <a:ea typeface="Arial" charset="0"/>
                <a:cs typeface="Arial" charset="0"/>
              </a:rPr>
              <a:t>What </a:t>
            </a:r>
            <a:r>
              <a:rPr lang="en-US" altLang="ko-KR" sz="3800" b="1" dirty="0">
                <a:latin typeface="Arial" charset="0"/>
                <a:ea typeface="Arial" charset="0"/>
                <a:cs typeface="Arial" charset="0"/>
              </a:rPr>
              <a:t>d</a:t>
            </a:r>
            <a:r>
              <a:rPr lang="en-US" altLang="ko-KR" sz="3800" b="1" dirty="0" smtClean="0">
                <a:latin typeface="Arial" charset="0"/>
                <a:ea typeface="Arial" charset="0"/>
                <a:cs typeface="Arial" charset="0"/>
              </a:rPr>
              <a:t>esign will you choose?</a:t>
            </a:r>
          </a:p>
        </p:txBody>
      </p:sp>
    </p:spTree>
    <p:extLst>
      <p:ext uri="{BB962C8B-B14F-4D97-AF65-F5344CB8AC3E}">
        <p14:creationId xmlns:p14="http://schemas.microsoft.com/office/powerpoint/2010/main" val="970563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-1" y="1379093"/>
            <a:ext cx="1219200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defRPr/>
            </a:pPr>
            <a:r>
              <a:rPr lang="en-US" altLang="ko-KR" sz="3500" b="1" dirty="0" smtClean="0">
                <a:latin typeface="Arial" charset="0"/>
                <a:ea typeface="Arial" charset="0"/>
                <a:cs typeface="Arial" charset="0"/>
              </a:rPr>
              <a:t>Searching </a:t>
            </a:r>
            <a:r>
              <a:rPr lang="en-US" altLang="ko-KR" sz="3500" b="1" dirty="0">
                <a:latin typeface="Arial" charset="0"/>
                <a:ea typeface="Arial" charset="0"/>
                <a:cs typeface="Arial" charset="0"/>
              </a:rPr>
              <a:t>System Objectives </a:t>
            </a:r>
            <a:r>
              <a:rPr lang="en-US" altLang="ko-KR" sz="3500" b="1" dirty="0" smtClean="0">
                <a:latin typeface="Arial" charset="0"/>
                <a:ea typeface="Arial" charset="0"/>
                <a:cs typeface="Arial" charset="0"/>
              </a:rPr>
              <a:t>for e-commerce?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" y="2848156"/>
            <a:ext cx="61759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ctr">
              <a:buAutoNum type="arabicPeriod"/>
            </a:pP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Profit</a:t>
            </a:r>
            <a:endParaRPr lang="en-US" sz="32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" y="4498298"/>
            <a:ext cx="84244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2.</a:t>
            </a:r>
            <a:r>
              <a:rPr lang="ko-KR" altLang="en-US" sz="3200" b="1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User Satisfaction</a:t>
            </a:r>
            <a:endParaRPr lang="en-US" sz="3200" b="1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153" y="2436760"/>
            <a:ext cx="1749692" cy="163481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4414" y="3717535"/>
            <a:ext cx="3759200" cy="214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317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-1" y="2064893"/>
            <a:ext cx="1219200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defRPr/>
            </a:pPr>
            <a:r>
              <a:rPr lang="en-US" altLang="ko-KR" sz="3800" b="1" dirty="0" smtClean="0">
                <a:latin typeface="Arial" charset="0"/>
                <a:ea typeface="Arial" charset="0"/>
                <a:cs typeface="Arial" charset="0"/>
              </a:rPr>
              <a:t>For a given search query, what will you show?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1" y="3588893"/>
            <a:ext cx="1219200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defRPr/>
            </a:pPr>
            <a:r>
              <a:rPr lang="en-US" altLang="ko-KR" sz="3800" b="1" dirty="0" smtClean="0">
                <a:latin typeface="Arial" charset="0"/>
                <a:ea typeface="Arial" charset="0"/>
                <a:cs typeface="Arial" charset="0"/>
              </a:rPr>
              <a:t>Derive prototype models</a:t>
            </a:r>
          </a:p>
        </p:txBody>
      </p:sp>
    </p:spTree>
    <p:extLst>
      <p:ext uri="{BB962C8B-B14F-4D97-AF65-F5344CB8AC3E}">
        <p14:creationId xmlns:p14="http://schemas.microsoft.com/office/powerpoint/2010/main" val="1015260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-1" y="1379093"/>
            <a:ext cx="1219200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defRPr/>
            </a:pPr>
            <a:r>
              <a:rPr lang="en-US" altLang="ko-KR" sz="3500" b="1" dirty="0" smtClean="0">
                <a:latin typeface="Arial" charset="0"/>
                <a:ea typeface="Arial" charset="0"/>
                <a:cs typeface="Arial" charset="0"/>
              </a:rPr>
              <a:t>Evaluation rules for Searching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" y="2848156"/>
            <a:ext cx="47396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ctr">
              <a:buAutoNum type="arabicPeriod"/>
            </a:pP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Profit</a:t>
            </a:r>
            <a:endParaRPr lang="en-US" sz="32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" y="3736298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2.</a:t>
            </a:r>
            <a:r>
              <a:rPr lang="ko-KR" altLang="en-US" sz="3200" b="1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Number of Clicks (from searching to buying)</a:t>
            </a:r>
            <a:endParaRPr lang="en-US" sz="32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" y="4711658"/>
            <a:ext cx="80162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3.</a:t>
            </a:r>
            <a:r>
              <a:rPr lang="ko-KR" altLang="en-US" sz="3200" b="1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Time spent from Users</a:t>
            </a:r>
            <a:endParaRPr lang="en-US" sz="3200" b="1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126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92883" y="42062"/>
            <a:ext cx="7515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Problems of Voice Assistants</a:t>
            </a:r>
            <a:endParaRPr lang="en-US" sz="3200" b="1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6835" y="757084"/>
            <a:ext cx="5228017" cy="6100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3579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92883" y="1395695"/>
            <a:ext cx="75159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latin typeface="Arial" charset="0"/>
                <a:ea typeface="Arial" charset="0"/>
                <a:cs typeface="Arial" charset="0"/>
              </a:rPr>
              <a:t>How to solve it?</a:t>
            </a:r>
            <a:endParaRPr lang="en-US" sz="40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299384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1.</a:t>
            </a:r>
            <a:r>
              <a:rPr lang="ko-KR" altLang="en-US" sz="3200" b="1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ko-KR" sz="3200" b="1" dirty="0">
                <a:latin typeface="Arial" charset="0"/>
                <a:ea typeface="Arial" charset="0"/>
                <a:cs typeface="Arial" charset="0"/>
              </a:rPr>
              <a:t>Voice Biometric </a:t>
            </a: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Authentication</a:t>
            </a:r>
            <a:endParaRPr lang="en-US" sz="32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3931277"/>
            <a:ext cx="111891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2.</a:t>
            </a:r>
            <a:r>
              <a:rPr lang="ko-KR" altLang="en-US" sz="3200" b="1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Voice Liveness Detection</a:t>
            </a:r>
            <a:endParaRPr lang="en-US" sz="3200" b="1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385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38985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 smtClean="0">
                <a:latin typeface="Arial" charset="0"/>
                <a:ea typeface="Arial" charset="0"/>
                <a:cs typeface="Arial" charset="0"/>
              </a:rPr>
              <a:t>Related research </a:t>
            </a:r>
            <a:r>
              <a:rPr lang="en-US" altLang="ko-KR" sz="4000" b="1" smtClean="0">
                <a:latin typeface="Arial" charset="0"/>
                <a:ea typeface="Arial" charset="0"/>
                <a:cs typeface="Arial" charset="0"/>
              </a:rPr>
              <a:t>and competitions</a:t>
            </a:r>
            <a:endParaRPr lang="en-US" sz="4000" b="1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920" y="1431234"/>
            <a:ext cx="10561320" cy="275512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1440" y="3876452"/>
            <a:ext cx="8100060" cy="285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449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92883" y="542255"/>
            <a:ext cx="75159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 smtClean="0">
                <a:latin typeface="Arial" charset="0"/>
                <a:ea typeface="Arial" charset="0"/>
                <a:cs typeface="Arial" charset="0"/>
              </a:rPr>
              <a:t>Why Deep Learning?</a:t>
            </a:r>
            <a:endParaRPr lang="en-US" sz="40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2460441"/>
            <a:ext cx="116433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1.</a:t>
            </a:r>
            <a:r>
              <a:rPr lang="ko-KR" altLang="en-US" sz="3200" b="1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Automatic Feature Engineering</a:t>
            </a:r>
            <a:endParaRPr lang="en-US" sz="32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3397877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2.</a:t>
            </a:r>
            <a:r>
              <a:rPr lang="ko-KR" altLang="en-US" sz="3200" b="1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Good performance with large data</a:t>
            </a:r>
            <a:endParaRPr lang="en-US" sz="3200" b="1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795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333" y="224495"/>
            <a:ext cx="8376355" cy="6633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9550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71524" y="2048900"/>
            <a:ext cx="111572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defRPr/>
            </a:pPr>
            <a:r>
              <a:rPr lang="en-US" altLang="ko-KR" sz="3200" b="1" dirty="0">
                <a:latin typeface="Arial" charset="0"/>
                <a:ea typeface="Arial" charset="0"/>
                <a:cs typeface="Arial" charset="0"/>
              </a:rPr>
              <a:t>- </a:t>
            </a: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  Use all data to maximize performance</a:t>
            </a:r>
            <a:endParaRPr lang="en-US" altLang="ko-KR" sz="3200" b="1" dirty="0">
              <a:solidFill>
                <a:srgbClr val="FF0000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524000" y="396240"/>
            <a:ext cx="9144000" cy="8882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 smtClean="0">
                <a:latin typeface="Arial" charset="0"/>
                <a:ea typeface="Arial" charset="0"/>
                <a:cs typeface="Arial" charset="0"/>
              </a:rPr>
              <a:t>Deep Learning Concepts</a:t>
            </a:r>
            <a:endParaRPr lang="en-US" sz="48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72971" y="3620483"/>
            <a:ext cx="9395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defRPr/>
            </a:pP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Ex)                                    ,</a:t>
            </a:r>
            <a:endParaRPr lang="en-US" altLang="ko-KR" sz="3200" b="1" dirty="0">
              <a:solidFill>
                <a:srgbClr val="FF0000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153" y="3675052"/>
            <a:ext cx="3819525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1524" y="4677980"/>
            <a:ext cx="111572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defRPr/>
            </a:pPr>
            <a:r>
              <a:rPr lang="en-US" altLang="ko-KR" sz="3200" b="1" dirty="0">
                <a:latin typeface="Arial" charset="0"/>
                <a:ea typeface="Arial" charset="0"/>
                <a:cs typeface="Arial" charset="0"/>
              </a:rPr>
              <a:t>- </a:t>
            </a: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  Make a deep non-linear model that explain the structure of data the best</a:t>
            </a:r>
            <a:endParaRPr lang="en-US" altLang="ko-KR" sz="3200" b="1" dirty="0">
              <a:solidFill>
                <a:srgbClr val="FF0000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1524" y="3035708"/>
            <a:ext cx="111572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defRPr/>
            </a:pPr>
            <a:r>
              <a:rPr lang="en-US" altLang="ko-KR" sz="3200" b="1" dirty="0">
                <a:latin typeface="Arial" charset="0"/>
                <a:ea typeface="Arial" charset="0"/>
                <a:cs typeface="Arial" charset="0"/>
              </a:rPr>
              <a:t>- </a:t>
            </a:r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  Higher model complexity</a:t>
            </a:r>
            <a:endParaRPr lang="en-US" altLang="ko-KR" sz="3200" b="1" dirty="0">
              <a:solidFill>
                <a:srgbClr val="FF0000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412" y="3621045"/>
            <a:ext cx="3810000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884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-1" y="2064893"/>
            <a:ext cx="1219200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defRPr/>
            </a:pPr>
            <a:r>
              <a:rPr lang="en-US" altLang="ko-KR" sz="3800" b="1" dirty="0" smtClean="0">
                <a:latin typeface="Arial" charset="0"/>
                <a:ea typeface="Arial" charset="0"/>
                <a:cs typeface="Arial" charset="0"/>
              </a:rPr>
              <a:t>Then, how to become a Data Scientist?</a:t>
            </a:r>
          </a:p>
        </p:txBody>
      </p:sp>
    </p:spTree>
    <p:extLst>
      <p:ext uri="{BB962C8B-B14F-4D97-AF65-F5344CB8AC3E}">
        <p14:creationId xmlns:p14="http://schemas.microsoft.com/office/powerpoint/2010/main" val="1148824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622300"/>
            <a:ext cx="11836400" cy="5613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6900" y="4406900"/>
            <a:ext cx="10706100" cy="101600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495800" y="5803900"/>
            <a:ext cx="2603500" cy="38100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66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" y="266700"/>
            <a:ext cx="12014200" cy="6451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7700" y="1714500"/>
            <a:ext cx="5676900" cy="33020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47700" y="2095500"/>
            <a:ext cx="11087100" cy="63500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973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-1" y="2308733"/>
            <a:ext cx="1219200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defRPr/>
            </a:pPr>
            <a:r>
              <a:rPr lang="en-US" altLang="ko-KR" sz="3800" b="1" dirty="0" smtClean="0">
                <a:latin typeface="Arial" charset="0"/>
                <a:ea typeface="Arial" charset="0"/>
                <a:cs typeface="Arial" charset="0"/>
              </a:rPr>
              <a:t>Emergence </a:t>
            </a:r>
            <a:r>
              <a:rPr lang="en-US" altLang="ko-KR" sz="3800" b="1" smtClean="0">
                <a:latin typeface="Arial" charset="0"/>
                <a:ea typeface="Arial" charset="0"/>
                <a:cs typeface="Arial" charset="0"/>
              </a:rPr>
              <a:t>of Data </a:t>
            </a:r>
            <a:r>
              <a:rPr lang="en-US" altLang="ko-KR" sz="3800" b="1" dirty="0" smtClean="0">
                <a:latin typeface="Arial" charset="0"/>
                <a:ea typeface="Arial" charset="0"/>
                <a:cs typeface="Arial" charset="0"/>
              </a:rPr>
              <a:t>Science Programs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1" y="3238373"/>
            <a:ext cx="99364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defRPr/>
            </a:pPr>
            <a:r>
              <a:rPr lang="en-US" altLang="ko-KR" sz="3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Stanford, Harvard</a:t>
            </a:r>
            <a:r>
              <a:rPr lang="en-US" altLang="ko-KR" sz="3000" b="1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, UC Berkeley</a:t>
            </a:r>
            <a:r>
              <a:rPr lang="en-US" altLang="ko-KR" sz="3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n-US" altLang="ko-KR" sz="30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etc</a:t>
            </a:r>
            <a:endParaRPr lang="en-US" altLang="ko-KR" sz="3000" b="1" dirty="0" smtClean="0">
              <a:solidFill>
                <a:schemeClr val="tx1">
                  <a:lumMod val="50000"/>
                  <a:lumOff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6370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-1" y="0"/>
            <a:ext cx="1219200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defRPr/>
            </a:pPr>
            <a:r>
              <a:rPr lang="en-US" altLang="ko-KR" sz="3800" b="1" dirty="0" smtClean="0">
                <a:latin typeface="Arial" charset="0"/>
                <a:ea typeface="Arial" charset="0"/>
                <a:cs typeface="Arial" charset="0"/>
              </a:rPr>
              <a:t>Five fundamentals in Stanford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089" y="728404"/>
            <a:ext cx="10243819" cy="6129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010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-1" y="0"/>
            <a:ext cx="1219200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defRPr/>
            </a:pPr>
            <a:r>
              <a:rPr lang="en-US" altLang="ko-KR" sz="3800" b="1" dirty="0" smtClean="0">
                <a:latin typeface="Arial" charset="0"/>
                <a:ea typeface="Arial" charset="0"/>
                <a:cs typeface="Arial" charset="0"/>
              </a:rPr>
              <a:t>Five fundamentals in Stanford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335" y="677108"/>
            <a:ext cx="9145328" cy="6200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284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-1" y="0"/>
            <a:ext cx="1219200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defRPr/>
            </a:pPr>
            <a:r>
              <a:rPr lang="en-US" altLang="ko-KR" sz="3800" b="1" dirty="0" smtClean="0">
                <a:latin typeface="Arial" charset="0"/>
                <a:ea typeface="Arial" charset="0"/>
                <a:cs typeface="Arial" charset="0"/>
              </a:rPr>
              <a:t>Five fundamentals in Stanford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9499" y="637786"/>
            <a:ext cx="8372999" cy="622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70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-1" y="0"/>
            <a:ext cx="1219200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defRPr/>
            </a:pPr>
            <a:r>
              <a:rPr lang="en-US" altLang="ko-KR" sz="3800" b="1" dirty="0" smtClean="0">
                <a:latin typeface="Arial" charset="0"/>
                <a:ea typeface="Arial" charset="0"/>
                <a:cs typeface="Arial" charset="0"/>
              </a:rPr>
              <a:t>Five fundamentals in Stanford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499" y="680641"/>
            <a:ext cx="9779000" cy="6177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372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-1" y="0"/>
            <a:ext cx="1219200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defRPr/>
            </a:pPr>
            <a:r>
              <a:rPr lang="en-US" altLang="ko-KR" sz="3800" b="1" dirty="0" smtClean="0">
                <a:latin typeface="Arial" charset="0"/>
                <a:ea typeface="Arial" charset="0"/>
                <a:cs typeface="Arial" charset="0"/>
              </a:rPr>
              <a:t>Five fundamentals in Stanford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1521460"/>
            <a:ext cx="113411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02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38039" y="2163340"/>
            <a:ext cx="7515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 smtClean="0">
                <a:latin typeface="Arial" charset="0"/>
                <a:ea typeface="Arial" charset="0"/>
                <a:cs typeface="Arial" charset="0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8039" y="5804006"/>
            <a:ext cx="7515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 err="1" smtClean="0">
                <a:latin typeface="Arial" charset="0"/>
                <a:ea typeface="Arial" charset="0"/>
                <a:cs typeface="Arial" charset="0"/>
              </a:rPr>
              <a:t>Ilyoup.kwak@gmail.com</a:t>
            </a:r>
            <a:endParaRPr lang="en-US" altLang="ko-KR" sz="3200" b="1" dirty="0" smtClean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3810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36077</TotalTime>
  <Words>385</Words>
  <Application>Microsoft Office PowerPoint</Application>
  <PresentationFormat>와이드스크린</PresentationFormat>
  <Paragraphs>91</Paragraphs>
  <Slides>29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4" baseType="lpstr">
      <vt:lpstr>맑은 고딕</vt:lpstr>
      <vt:lpstr>Arial</vt:lpstr>
      <vt:lpstr>Calibri</vt:lpstr>
      <vt:lpstr>Calibri Light</vt:lpstr>
      <vt:lpstr>Office Theme</vt:lpstr>
      <vt:lpstr>About Data Scientists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CAU</cp:lastModifiedBy>
  <cp:revision>76</cp:revision>
  <dcterms:created xsi:type="dcterms:W3CDTF">2017-01-04T08:04:00Z</dcterms:created>
  <dcterms:modified xsi:type="dcterms:W3CDTF">2019-10-15T05:17:31Z</dcterms:modified>
</cp:coreProperties>
</file>